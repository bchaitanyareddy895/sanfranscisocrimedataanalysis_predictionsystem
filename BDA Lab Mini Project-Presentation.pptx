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5" r:id="rId3"/>
    <p:sldId id="257" r:id="rId4"/>
    <p:sldId id="290" r:id="rId5"/>
    <p:sldId id="259" r:id="rId6"/>
    <p:sldId id="262" r:id="rId7"/>
    <p:sldId id="261" r:id="rId8"/>
    <p:sldId id="292" r:id="rId9"/>
    <p:sldId id="269" r:id="rId10"/>
    <p:sldId id="293" r:id="rId11"/>
    <p:sldId id="271" r:id="rId12"/>
    <p:sldId id="291"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guide id="3" pos="325" userDrawn="1">
          <p15:clr>
            <a:srgbClr val="A4A3A4"/>
          </p15:clr>
        </p15:guide>
        <p15:guide id="4"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783"/>
    <a:srgbClr val="097F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5A72E-19E4-4B55-A39C-D4195AD7444B}" v="1" dt="2025-12-01T05:24:55.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65"/>
    <p:restoredTop sz="94626"/>
  </p:normalViewPr>
  <p:slideViewPr>
    <p:cSldViewPr snapToGrid="0" snapToObjects="1" showGuides="1">
      <p:cViewPr varScale="1">
        <p:scale>
          <a:sx n="78" d="100"/>
          <a:sy n="78" d="100"/>
        </p:scale>
        <p:origin x="989" y="43"/>
      </p:cViewPr>
      <p:guideLst>
        <p:guide orient="horz" pos="2160"/>
        <p:guide pos="3863"/>
        <p:guide pos="325"/>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Chaitanya Reddy" userId="3cae570b7f0a044c" providerId="LiveId" clId="{021E54C8-D579-4A15-A36B-35A1F5D96546}"/>
    <pc:docChg chg="modSld">
      <pc:chgData name="B Chaitanya Reddy" userId="3cae570b7f0a044c" providerId="LiveId" clId="{021E54C8-D579-4A15-A36B-35A1F5D96546}" dt="2025-12-01T05:30:37.714" v="20" actId="1076"/>
      <pc:docMkLst>
        <pc:docMk/>
      </pc:docMkLst>
      <pc:sldChg chg="modSp mod">
        <pc:chgData name="B Chaitanya Reddy" userId="3cae570b7f0a044c" providerId="LiveId" clId="{021E54C8-D579-4A15-A36B-35A1F5D96546}" dt="2025-12-01T05:24:02.517" v="2" actId="1076"/>
        <pc:sldMkLst>
          <pc:docMk/>
          <pc:sldMk cId="2161298393" sldId="257"/>
        </pc:sldMkLst>
        <pc:spChg chg="mod">
          <ac:chgData name="B Chaitanya Reddy" userId="3cae570b7f0a044c" providerId="LiveId" clId="{021E54C8-D579-4A15-A36B-35A1F5D96546}" dt="2025-12-01T05:24:02.517" v="2" actId="1076"/>
          <ac:spMkLst>
            <pc:docMk/>
            <pc:sldMk cId="2161298393" sldId="257"/>
            <ac:spMk id="4" creationId="{8DAF0C98-CE0D-B942-95CA-965CFB20018E}"/>
          </ac:spMkLst>
        </pc:spChg>
      </pc:sldChg>
      <pc:sldChg chg="modSp mod">
        <pc:chgData name="B Chaitanya Reddy" userId="3cae570b7f0a044c" providerId="LiveId" clId="{021E54C8-D579-4A15-A36B-35A1F5D96546}" dt="2025-12-01T05:27:29.404" v="10" actId="1076"/>
        <pc:sldMkLst>
          <pc:docMk/>
          <pc:sldMk cId="130275731" sldId="259"/>
        </pc:sldMkLst>
        <pc:spChg chg="mod">
          <ac:chgData name="B Chaitanya Reddy" userId="3cae570b7f0a044c" providerId="LiveId" clId="{021E54C8-D579-4A15-A36B-35A1F5D96546}" dt="2025-12-01T05:27:29.404" v="10" actId="1076"/>
          <ac:spMkLst>
            <pc:docMk/>
            <pc:sldMk cId="130275731" sldId="259"/>
            <ac:spMk id="2" creationId="{CFED0ED9-EF2C-2D45-BFD5-146BBD13C2D2}"/>
          </ac:spMkLst>
        </pc:spChg>
      </pc:sldChg>
      <pc:sldChg chg="modSp mod">
        <pc:chgData name="B Chaitanya Reddy" userId="3cae570b7f0a044c" providerId="LiveId" clId="{021E54C8-D579-4A15-A36B-35A1F5D96546}" dt="2025-12-01T05:28:42.022" v="13" actId="1076"/>
        <pc:sldMkLst>
          <pc:docMk/>
          <pc:sldMk cId="1536569664" sldId="261"/>
        </pc:sldMkLst>
        <pc:spChg chg="mod">
          <ac:chgData name="B Chaitanya Reddy" userId="3cae570b7f0a044c" providerId="LiveId" clId="{021E54C8-D579-4A15-A36B-35A1F5D96546}" dt="2025-12-01T05:28:42.022" v="13" actId="1076"/>
          <ac:spMkLst>
            <pc:docMk/>
            <pc:sldMk cId="1536569664" sldId="261"/>
            <ac:spMk id="12" creationId="{F1C80F0A-D252-834D-823B-2A6E742A2BD0}"/>
          </ac:spMkLst>
        </pc:spChg>
      </pc:sldChg>
      <pc:sldChg chg="modSp mod">
        <pc:chgData name="B Chaitanya Reddy" userId="3cae570b7f0a044c" providerId="LiveId" clId="{021E54C8-D579-4A15-A36B-35A1F5D96546}" dt="2025-12-01T05:27:44.358" v="12" actId="1076"/>
        <pc:sldMkLst>
          <pc:docMk/>
          <pc:sldMk cId="1631340003" sldId="262"/>
        </pc:sldMkLst>
        <pc:spChg chg="mod">
          <ac:chgData name="B Chaitanya Reddy" userId="3cae570b7f0a044c" providerId="LiveId" clId="{021E54C8-D579-4A15-A36B-35A1F5D96546}" dt="2025-12-01T05:27:44.358" v="12" actId="1076"/>
          <ac:spMkLst>
            <pc:docMk/>
            <pc:sldMk cId="1631340003" sldId="262"/>
            <ac:spMk id="2" creationId="{D0F0610C-6F4A-F147-A91D-71B1B8A34446}"/>
          </ac:spMkLst>
        </pc:spChg>
      </pc:sldChg>
      <pc:sldChg chg="modSp mod">
        <pc:chgData name="B Chaitanya Reddy" userId="3cae570b7f0a044c" providerId="LiveId" clId="{021E54C8-D579-4A15-A36B-35A1F5D96546}" dt="2025-12-01T05:29:03.869" v="15" actId="1076"/>
        <pc:sldMkLst>
          <pc:docMk/>
          <pc:sldMk cId="1886371387" sldId="269"/>
        </pc:sldMkLst>
        <pc:spChg chg="mod">
          <ac:chgData name="B Chaitanya Reddy" userId="3cae570b7f0a044c" providerId="LiveId" clId="{021E54C8-D579-4A15-A36B-35A1F5D96546}" dt="2025-12-01T05:29:03.869" v="15" actId="1076"/>
          <ac:spMkLst>
            <pc:docMk/>
            <pc:sldMk cId="1886371387" sldId="269"/>
            <ac:spMk id="2" creationId="{81F91F96-4AB6-764A-8742-19902760E750}"/>
          </ac:spMkLst>
        </pc:spChg>
      </pc:sldChg>
      <pc:sldChg chg="modSp mod">
        <pc:chgData name="B Chaitanya Reddy" userId="3cae570b7f0a044c" providerId="LiveId" clId="{021E54C8-D579-4A15-A36B-35A1F5D96546}" dt="2025-12-01T05:30:37.714" v="20" actId="1076"/>
        <pc:sldMkLst>
          <pc:docMk/>
          <pc:sldMk cId="4117492132" sldId="271"/>
        </pc:sldMkLst>
        <pc:spChg chg="mod">
          <ac:chgData name="B Chaitanya Reddy" userId="3cae570b7f0a044c" providerId="LiveId" clId="{021E54C8-D579-4A15-A36B-35A1F5D96546}" dt="2025-12-01T05:30:37.714" v="20" actId="1076"/>
          <ac:spMkLst>
            <pc:docMk/>
            <pc:sldMk cId="4117492132" sldId="271"/>
            <ac:spMk id="2" creationId="{93EAAD04-F202-604D-8F33-BB3AB0570DB2}"/>
          </ac:spMkLst>
        </pc:spChg>
      </pc:sldChg>
      <pc:sldChg chg="modSp mod">
        <pc:chgData name="B Chaitanya Reddy" userId="3cae570b7f0a044c" providerId="LiveId" clId="{021E54C8-D579-4A15-A36B-35A1F5D96546}" dt="2025-12-01T05:24:55.319" v="8" actId="1076"/>
        <pc:sldMkLst>
          <pc:docMk/>
          <pc:sldMk cId="3369496603" sldId="290"/>
        </pc:sldMkLst>
        <pc:spChg chg="mod">
          <ac:chgData name="B Chaitanya Reddy" userId="3cae570b7f0a044c" providerId="LiveId" clId="{021E54C8-D579-4A15-A36B-35A1F5D96546}" dt="2025-12-01T05:24:48.967" v="7" actId="1076"/>
          <ac:spMkLst>
            <pc:docMk/>
            <pc:sldMk cId="3369496603" sldId="290"/>
            <ac:spMk id="3" creationId="{99C76379-A7BA-6CC3-03C4-D38C8F397639}"/>
          </ac:spMkLst>
        </pc:spChg>
        <pc:spChg chg="mod">
          <ac:chgData name="B Chaitanya Reddy" userId="3cae570b7f0a044c" providerId="LiveId" clId="{021E54C8-D579-4A15-A36B-35A1F5D96546}" dt="2025-12-01T05:24:34.394" v="5" actId="1076"/>
          <ac:spMkLst>
            <pc:docMk/>
            <pc:sldMk cId="3369496603" sldId="290"/>
            <ac:spMk id="4" creationId="{8DAF0C98-CE0D-B942-95CA-965CFB20018E}"/>
          </ac:spMkLst>
        </pc:spChg>
        <pc:spChg chg="mod">
          <ac:chgData name="B Chaitanya Reddy" userId="3cae570b7f0a044c" providerId="LiveId" clId="{021E54C8-D579-4A15-A36B-35A1F5D96546}" dt="2025-12-01T05:24:55.319" v="8" actId="1076"/>
          <ac:spMkLst>
            <pc:docMk/>
            <pc:sldMk cId="3369496603" sldId="290"/>
            <ac:spMk id="5" creationId="{D1E5DE51-A3FF-B6E8-4D71-76489F1D5651}"/>
          </ac:spMkLst>
        </pc:spChg>
      </pc:sldChg>
      <pc:sldChg chg="modSp mod">
        <pc:chgData name="B Chaitanya Reddy" userId="3cae570b7f0a044c" providerId="LiveId" clId="{021E54C8-D579-4A15-A36B-35A1F5D96546}" dt="2025-12-01T05:29:22.304" v="17" actId="1076"/>
        <pc:sldMkLst>
          <pc:docMk/>
          <pc:sldMk cId="1276280220" sldId="293"/>
        </pc:sldMkLst>
        <pc:spChg chg="mod">
          <ac:chgData name="B Chaitanya Reddy" userId="3cae570b7f0a044c" providerId="LiveId" clId="{021E54C8-D579-4A15-A36B-35A1F5D96546}" dt="2025-12-01T05:29:22.304" v="17" actId="1076"/>
          <ac:spMkLst>
            <pc:docMk/>
            <pc:sldMk cId="1276280220" sldId="293"/>
            <ac:spMk id="2" creationId="{6530AF3E-1983-475C-86FD-56BB4D2D6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499BB-23DF-A04B-A006-E4352A34EB0F}"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52418-CEC9-AD41-8D78-31D2969991F0}" type="slidenum">
              <a:rPr lang="en-US" smtClean="0"/>
              <a:t>‹#›</a:t>
            </a:fld>
            <a:endParaRPr lang="en-US"/>
          </a:p>
        </p:txBody>
      </p:sp>
    </p:spTree>
    <p:extLst>
      <p:ext uri="{BB962C8B-B14F-4D97-AF65-F5344CB8AC3E}">
        <p14:creationId xmlns:p14="http://schemas.microsoft.com/office/powerpoint/2010/main" val="1176477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A black background with white text&#10;&#10;AI-generated content may be incorrect.">
            <a:extLst>
              <a:ext uri="{FF2B5EF4-FFF2-40B4-BE49-F238E27FC236}">
                <a16:creationId xmlns:a16="http://schemas.microsoft.com/office/drawing/2014/main" id="{7C3E60DB-AF99-96E6-AE8C-1F6A89B8B9BF}"/>
              </a:ext>
            </a:extLst>
          </p:cNvPr>
          <p:cNvPicPr>
            <a:picLocks noChangeAspect="1"/>
          </p:cNvPicPr>
          <p:nvPr userDrawn="1"/>
        </p:nvPicPr>
        <p:blipFill>
          <a:blip r:embed="rId2"/>
          <a:stretch>
            <a:fillRect/>
          </a:stretch>
        </p:blipFill>
        <p:spPr>
          <a:xfrm>
            <a:off x="3964400" y="823238"/>
            <a:ext cx="3980362" cy="1597992"/>
          </a:xfrm>
          <a:prstGeom prst="rect">
            <a:avLst/>
          </a:prstGeom>
        </p:spPr>
      </p:pic>
      <p:sp>
        <p:nvSpPr>
          <p:cNvPr id="6" name="TextBox 5">
            <a:extLst>
              <a:ext uri="{FF2B5EF4-FFF2-40B4-BE49-F238E27FC236}">
                <a16:creationId xmlns:a16="http://schemas.microsoft.com/office/drawing/2014/main" id="{C288BDCC-4593-52EC-C9C3-BF80D8CE7665}"/>
              </a:ext>
            </a:extLst>
          </p:cNvPr>
          <p:cNvSpPr txBox="1"/>
          <p:nvPr userDrawn="1"/>
        </p:nvSpPr>
        <p:spPr>
          <a:xfrm>
            <a:off x="4786733" y="6301409"/>
            <a:ext cx="2335695" cy="369332"/>
          </a:xfrm>
          <a:prstGeom prst="rect">
            <a:avLst/>
          </a:prstGeom>
          <a:noFill/>
        </p:spPr>
        <p:txBody>
          <a:bodyPr wrap="square" rtlCol="0">
            <a:spAutoFit/>
          </a:bodyPr>
          <a:lstStyle/>
          <a:p>
            <a:r>
              <a:rPr lang="en-US" dirty="0">
                <a:solidFill>
                  <a:schemeClr val="bg1"/>
                </a:solidFill>
              </a:rPr>
              <a:t>#EducateToEnterprise</a:t>
            </a:r>
          </a:p>
        </p:txBody>
      </p:sp>
      <p:grpSp>
        <p:nvGrpSpPr>
          <p:cNvPr id="7" name="Group 6">
            <a:extLst>
              <a:ext uri="{FF2B5EF4-FFF2-40B4-BE49-F238E27FC236}">
                <a16:creationId xmlns:a16="http://schemas.microsoft.com/office/drawing/2014/main" id="{AE0A4C7B-DDE7-C7E2-BED9-38235BBF53E3}"/>
              </a:ext>
            </a:extLst>
          </p:cNvPr>
          <p:cNvGrpSpPr/>
          <p:nvPr userDrawn="1"/>
        </p:nvGrpSpPr>
        <p:grpSpPr>
          <a:xfrm>
            <a:off x="515936" y="724619"/>
            <a:ext cx="11160127" cy="4589253"/>
            <a:chOff x="515936" y="724619"/>
            <a:chExt cx="11160127" cy="4589253"/>
          </a:xfrm>
        </p:grpSpPr>
        <p:cxnSp>
          <p:nvCxnSpPr>
            <p:cNvPr id="8" name="Straight Connector 7">
              <a:extLst>
                <a:ext uri="{FF2B5EF4-FFF2-40B4-BE49-F238E27FC236}">
                  <a16:creationId xmlns:a16="http://schemas.microsoft.com/office/drawing/2014/main" id="{100D3263-2110-E50F-F5AF-BFDF4F184F58}"/>
                </a:ext>
              </a:extLst>
            </p:cNvPr>
            <p:cNvCxnSpPr>
              <a:cxnSpLocks/>
            </p:cNvCxnSpPr>
            <p:nvPr/>
          </p:nvCxnSpPr>
          <p:spPr>
            <a:xfrm>
              <a:off x="515938" y="724619"/>
              <a:ext cx="1116012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70B7B97-7528-E28F-C964-A7B8DD9DA45B}"/>
                </a:ext>
              </a:extLst>
            </p:cNvPr>
            <p:cNvCxnSpPr/>
            <p:nvPr/>
          </p:nvCxnSpPr>
          <p:spPr>
            <a:xfrm>
              <a:off x="515938" y="724619"/>
              <a:ext cx="0" cy="458925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F6950FE-E72F-4889-11C3-B3F22F9BD0D2}"/>
                </a:ext>
              </a:extLst>
            </p:cNvPr>
            <p:cNvCxnSpPr/>
            <p:nvPr/>
          </p:nvCxnSpPr>
          <p:spPr>
            <a:xfrm>
              <a:off x="515936" y="724619"/>
              <a:ext cx="2398143" cy="239814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9234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01">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8D69DF7-B38B-304A-8FAD-81A2C0740F2B}"/>
              </a:ext>
            </a:extLst>
          </p:cNvPr>
          <p:cNvSpPr>
            <a:spLocks noGrp="1"/>
          </p:cNvSpPr>
          <p:nvPr>
            <p:ph type="pic" sz="quarter" idx="10"/>
          </p:nvPr>
        </p:nvSpPr>
        <p:spPr>
          <a:xfrm>
            <a:off x="7901796" y="1723292"/>
            <a:ext cx="3774266" cy="4679664"/>
          </a:xfrm>
          <a:prstGeom prst="roundRect">
            <a:avLst>
              <a:gd name="adj" fmla="val 3688"/>
            </a:avLst>
          </a:prstGeom>
          <a:pattFill prst="pct5">
            <a:fgClr>
              <a:schemeClr val="accent1"/>
            </a:fgClr>
            <a:bgClr>
              <a:schemeClr val="bg1"/>
            </a:bgClr>
          </a:pattFill>
        </p:spPr>
        <p:txBody>
          <a:bodyPr/>
          <a:lstStyle/>
          <a:p>
            <a:endParaRPr lang="en-US"/>
          </a:p>
        </p:txBody>
      </p:sp>
      <p:cxnSp>
        <p:nvCxnSpPr>
          <p:cNvPr id="2" name="Straight Connector 1">
            <a:extLst>
              <a:ext uri="{FF2B5EF4-FFF2-40B4-BE49-F238E27FC236}">
                <a16:creationId xmlns:a16="http://schemas.microsoft.com/office/drawing/2014/main" id="{D4180638-FD0C-6DAD-A1B6-390497E4B69C}"/>
              </a:ext>
            </a:extLst>
          </p:cNvPr>
          <p:cNvCxnSpPr>
            <a:cxnSpLocks/>
          </p:cNvCxnSpPr>
          <p:nvPr userDrawn="1"/>
        </p:nvCxnSpPr>
        <p:spPr>
          <a:xfrm>
            <a:off x="515938" y="1376578"/>
            <a:ext cx="42113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black background with white text&#10;&#10;AI-generated content may be incorrect.">
            <a:extLst>
              <a:ext uri="{FF2B5EF4-FFF2-40B4-BE49-F238E27FC236}">
                <a16:creationId xmlns:a16="http://schemas.microsoft.com/office/drawing/2014/main" id="{CF140040-648E-83DA-F09D-40FC67D2C9F3}"/>
              </a:ext>
            </a:extLst>
          </p:cNvPr>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a:extLst>
              <a:ext uri="{FF2B5EF4-FFF2-40B4-BE49-F238E27FC236}">
                <a16:creationId xmlns:a16="http://schemas.microsoft.com/office/drawing/2014/main" id="{E38AB04A-0E37-FFDF-A310-2E498600D1FA}"/>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2">
                    <a:lumMod val="90000"/>
                  </a:schemeClr>
                </a:solidFill>
                <a:latin typeface="Glacial Indifference" pitchFamily="2" charset="0"/>
                <a:ea typeface="Roboto"/>
                <a:cs typeface="Roboto"/>
                <a:sym typeface="Roboto"/>
              </a:rPr>
              <a:t>E 2 E</a:t>
            </a:r>
            <a:endParaRPr sz="7200" spc="600" dirty="0">
              <a:solidFill>
                <a:schemeClr val="bg2">
                  <a:lumMod val="90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841349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lide 01">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8D69DF7-B38B-304A-8FAD-81A2C0740F2B}"/>
              </a:ext>
            </a:extLst>
          </p:cNvPr>
          <p:cNvSpPr>
            <a:spLocks noGrp="1"/>
          </p:cNvSpPr>
          <p:nvPr>
            <p:ph type="pic" sz="quarter" idx="10"/>
          </p:nvPr>
        </p:nvSpPr>
        <p:spPr>
          <a:xfrm>
            <a:off x="7901796" y="455044"/>
            <a:ext cx="3774266" cy="5947912"/>
          </a:xfrm>
          <a:prstGeom prst="roundRect">
            <a:avLst>
              <a:gd name="adj" fmla="val 3688"/>
            </a:avLst>
          </a:prstGeom>
          <a:pattFill prst="pct5">
            <a:fgClr>
              <a:schemeClr val="accent1"/>
            </a:fgClr>
            <a:bgClr>
              <a:schemeClr val="bg1"/>
            </a:bgClr>
          </a:pattFill>
        </p:spPr>
        <p:txBody>
          <a:bodyPr/>
          <a:lstStyle/>
          <a:p>
            <a:endParaRPr lang="en-US"/>
          </a:p>
        </p:txBody>
      </p:sp>
      <p:cxnSp>
        <p:nvCxnSpPr>
          <p:cNvPr id="2" name="Straight Connector 1">
            <a:extLst>
              <a:ext uri="{FF2B5EF4-FFF2-40B4-BE49-F238E27FC236}">
                <a16:creationId xmlns:a16="http://schemas.microsoft.com/office/drawing/2014/main" id="{D4180638-FD0C-6DAD-A1B6-390497E4B69C}"/>
              </a:ext>
            </a:extLst>
          </p:cNvPr>
          <p:cNvCxnSpPr>
            <a:cxnSpLocks/>
          </p:cNvCxnSpPr>
          <p:nvPr userDrawn="1"/>
        </p:nvCxnSpPr>
        <p:spPr>
          <a:xfrm>
            <a:off x="515938" y="1376578"/>
            <a:ext cx="42113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3932424-3A4A-108C-F095-D723D3BA4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3" name="Google Shape;125;p30">
            <a:extLst>
              <a:ext uri="{FF2B5EF4-FFF2-40B4-BE49-F238E27FC236}">
                <a16:creationId xmlns:a16="http://schemas.microsoft.com/office/drawing/2014/main" id="{16653ACE-3F72-1A33-B51C-DACC94B9813E}"/>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307810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02">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7786DD45-9C27-C34B-B400-3F94A162A85D}"/>
              </a:ext>
            </a:extLst>
          </p:cNvPr>
          <p:cNvSpPr>
            <a:spLocks noGrp="1"/>
          </p:cNvSpPr>
          <p:nvPr>
            <p:ph type="pic" sz="quarter" idx="10"/>
          </p:nvPr>
        </p:nvSpPr>
        <p:spPr>
          <a:xfrm>
            <a:off x="515938" y="624840"/>
            <a:ext cx="4056062" cy="5608320"/>
          </a:xfrm>
          <a:prstGeom prst="roundRect">
            <a:avLst>
              <a:gd name="adj" fmla="val 3688"/>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a:extLst>
              <a:ext uri="{FF2B5EF4-FFF2-40B4-BE49-F238E27FC236}">
                <a16:creationId xmlns:a16="http://schemas.microsoft.com/office/drawing/2014/main" id="{11D6C112-B347-CAE9-B90B-291114EA5C21}"/>
              </a:ext>
            </a:extLst>
          </p:cNvPr>
          <p:cNvPicPr>
            <a:picLocks noChangeAspect="1"/>
          </p:cNvPicPr>
          <p:nvPr userDrawn="1"/>
        </p:nvPicPr>
        <p:blipFill>
          <a:blip r:embed="rId2"/>
          <a:stretch>
            <a:fillRect/>
          </a:stretch>
        </p:blipFill>
        <p:spPr>
          <a:xfrm>
            <a:off x="10152263" y="96970"/>
            <a:ext cx="1760684" cy="706860"/>
          </a:xfrm>
          <a:prstGeom prst="rect">
            <a:avLst/>
          </a:prstGeom>
        </p:spPr>
      </p:pic>
      <p:sp>
        <p:nvSpPr>
          <p:cNvPr id="7" name="Google Shape;125;p30">
            <a:extLst>
              <a:ext uri="{FF2B5EF4-FFF2-40B4-BE49-F238E27FC236}">
                <a16:creationId xmlns:a16="http://schemas.microsoft.com/office/drawing/2014/main" id="{71389729-22BD-9345-EF2C-2847B6B31BE9}"/>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4056651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03">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CE768D1D-1E9F-D648-B748-4650F91259E3}"/>
              </a:ext>
            </a:extLst>
          </p:cNvPr>
          <p:cNvSpPr>
            <a:spLocks noGrp="1"/>
          </p:cNvSpPr>
          <p:nvPr>
            <p:ph type="pic" sz="quarter" idx="10"/>
          </p:nvPr>
        </p:nvSpPr>
        <p:spPr>
          <a:xfrm>
            <a:off x="-281556" y="3019894"/>
            <a:ext cx="4190060" cy="3838106"/>
          </a:xfrm>
          <a:prstGeom prst="round2SameRect">
            <a:avLst>
              <a:gd name="adj1" fmla="val 4464"/>
              <a:gd name="adj2" fmla="val 0"/>
            </a:avLst>
          </a:prstGeom>
          <a:pattFill prst="pct5">
            <a:fgClr>
              <a:schemeClr val="accent1"/>
            </a:fgClr>
            <a:bgClr>
              <a:schemeClr val="bg1"/>
            </a:bgClr>
          </a:pattFill>
        </p:spPr>
        <p:txBody>
          <a:bodyPr/>
          <a:lstStyle/>
          <a:p>
            <a:endParaRPr lang="en-US"/>
          </a:p>
        </p:txBody>
      </p:sp>
      <p:pic>
        <p:nvPicPr>
          <p:cNvPr id="4" name="Picture 3">
            <a:extLst>
              <a:ext uri="{FF2B5EF4-FFF2-40B4-BE49-F238E27FC236}">
                <a16:creationId xmlns:a16="http://schemas.microsoft.com/office/drawing/2014/main" id="{DA5C39FB-74E7-3227-BAFF-BCE2C799F7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a:extLst>
              <a:ext uri="{FF2B5EF4-FFF2-40B4-BE49-F238E27FC236}">
                <a16:creationId xmlns:a16="http://schemas.microsoft.com/office/drawing/2014/main" id="{C26E5CCF-2EF4-4AB6-7E7A-E12BAEA4821E}"/>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3865921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04">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8E1F102-3EE9-704F-B645-7DF5023A4B9A}"/>
              </a:ext>
            </a:extLst>
          </p:cNvPr>
          <p:cNvSpPr>
            <a:spLocks noGrp="1"/>
          </p:cNvSpPr>
          <p:nvPr>
            <p:ph type="pic" sz="quarter" idx="10"/>
          </p:nvPr>
        </p:nvSpPr>
        <p:spPr>
          <a:xfrm>
            <a:off x="6929621" y="1388526"/>
            <a:ext cx="4746441" cy="4257625"/>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4" name="Picture 3">
            <a:extLst>
              <a:ext uri="{FF2B5EF4-FFF2-40B4-BE49-F238E27FC236}">
                <a16:creationId xmlns:a16="http://schemas.microsoft.com/office/drawing/2014/main" id="{ED8FDBAA-1611-2D35-75AB-F8C6AC8BC3E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a:extLst>
              <a:ext uri="{FF2B5EF4-FFF2-40B4-BE49-F238E27FC236}">
                <a16:creationId xmlns:a16="http://schemas.microsoft.com/office/drawing/2014/main" id="{9D9FD2A3-875F-23ED-CF9C-6C540CDDC309}"/>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3881427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05">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443C5315-F70A-6F4A-AC56-6D7DADD53386}"/>
              </a:ext>
            </a:extLst>
          </p:cNvPr>
          <p:cNvSpPr>
            <a:spLocks noGrp="1"/>
          </p:cNvSpPr>
          <p:nvPr>
            <p:ph type="pic" sz="quarter" idx="10"/>
          </p:nvPr>
        </p:nvSpPr>
        <p:spPr>
          <a:xfrm>
            <a:off x="0" y="1600201"/>
            <a:ext cx="12192000" cy="2680636"/>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a:extLst>
              <a:ext uri="{FF2B5EF4-FFF2-40B4-BE49-F238E27FC236}">
                <a16:creationId xmlns:a16="http://schemas.microsoft.com/office/drawing/2014/main" id="{E0C3C926-4CDF-8FB4-5636-C5133017039E}"/>
              </a:ext>
            </a:extLst>
          </p:cNvPr>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a:extLst>
              <a:ext uri="{FF2B5EF4-FFF2-40B4-BE49-F238E27FC236}">
                <a16:creationId xmlns:a16="http://schemas.microsoft.com/office/drawing/2014/main" id="{A63B813D-B28E-C758-DE10-05AA9A4D50B1}"/>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415575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06">
    <p:spTree>
      <p:nvGrpSpPr>
        <p:cNvPr id="1" name=""/>
        <p:cNvGrpSpPr/>
        <p:nvPr/>
      </p:nvGrpSpPr>
      <p:grpSpPr>
        <a:xfrm>
          <a:off x="0" y="0"/>
          <a:ext cx="0" cy="0"/>
          <a:chOff x="0" y="0"/>
          <a:chExt cx="0" cy="0"/>
        </a:xfrm>
      </p:grpSpPr>
      <p:sp>
        <p:nvSpPr>
          <p:cNvPr id="6" name="Picture Placeholder 8">
            <a:extLst>
              <a:ext uri="{FF2B5EF4-FFF2-40B4-BE49-F238E27FC236}">
                <a16:creationId xmlns:a16="http://schemas.microsoft.com/office/drawing/2014/main" id="{52188AAE-671F-A84E-A222-710127E27E76}"/>
              </a:ext>
            </a:extLst>
          </p:cNvPr>
          <p:cNvSpPr>
            <a:spLocks noGrp="1"/>
          </p:cNvSpPr>
          <p:nvPr>
            <p:ph type="pic" sz="quarter" idx="10"/>
          </p:nvPr>
        </p:nvSpPr>
        <p:spPr>
          <a:xfrm>
            <a:off x="312977" y="2020452"/>
            <a:ext cx="6250430" cy="3177713"/>
          </a:xfrm>
          <a:prstGeom prst="round2SameRect">
            <a:avLst>
              <a:gd name="adj1" fmla="val 6096"/>
              <a:gd name="adj2" fmla="val 0"/>
            </a:avLst>
          </a:prstGeom>
          <a:pattFill prst="pct5">
            <a:fgClr>
              <a:schemeClr val="accent1"/>
            </a:fgClr>
            <a:bgClr>
              <a:schemeClr val="bg1"/>
            </a:bgClr>
          </a:pattFill>
        </p:spPr>
        <p:txBody>
          <a:bodyPr/>
          <a:lstStyle/>
          <a:p>
            <a:endParaRPr lang="en-US"/>
          </a:p>
        </p:txBody>
      </p:sp>
      <p:pic>
        <p:nvPicPr>
          <p:cNvPr id="4" name="Picture 3">
            <a:extLst>
              <a:ext uri="{FF2B5EF4-FFF2-40B4-BE49-F238E27FC236}">
                <a16:creationId xmlns:a16="http://schemas.microsoft.com/office/drawing/2014/main" id="{D07FF208-3496-1A98-A8D6-19C1B27558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a:extLst>
              <a:ext uri="{FF2B5EF4-FFF2-40B4-BE49-F238E27FC236}">
                <a16:creationId xmlns:a16="http://schemas.microsoft.com/office/drawing/2014/main" id="{06D80AE2-5399-977F-86D6-BCC8517DAB14}"/>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2105275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07">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BAC8BD0-A63C-3F49-9042-82FC1ED1E15C}"/>
              </a:ext>
            </a:extLst>
          </p:cNvPr>
          <p:cNvSpPr>
            <a:spLocks noGrp="1"/>
          </p:cNvSpPr>
          <p:nvPr>
            <p:ph type="pic" sz="quarter" idx="10"/>
          </p:nvPr>
        </p:nvSpPr>
        <p:spPr>
          <a:xfrm>
            <a:off x="515937" y="1124743"/>
            <a:ext cx="6295409" cy="3320897"/>
          </a:xfrm>
          <a:prstGeom prst="roundRect">
            <a:avLst>
              <a:gd name="adj" fmla="val 3688"/>
            </a:avLst>
          </a:prstGeom>
          <a:pattFill prst="pct5">
            <a:fgClr>
              <a:schemeClr val="accent1"/>
            </a:fgClr>
            <a:bgClr>
              <a:schemeClr val="bg1"/>
            </a:bgClr>
          </a:pattFill>
        </p:spPr>
        <p:txBody>
          <a:bodyPr/>
          <a:lstStyle/>
          <a:p>
            <a:endParaRPr lang="en-US"/>
          </a:p>
        </p:txBody>
      </p:sp>
      <p:pic>
        <p:nvPicPr>
          <p:cNvPr id="4" name="Picture 3">
            <a:extLst>
              <a:ext uri="{FF2B5EF4-FFF2-40B4-BE49-F238E27FC236}">
                <a16:creationId xmlns:a16="http://schemas.microsoft.com/office/drawing/2014/main" id="{98AB28C2-2D1A-372A-64A5-D59D93BA54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a:extLst>
              <a:ext uri="{FF2B5EF4-FFF2-40B4-BE49-F238E27FC236}">
                <a16:creationId xmlns:a16="http://schemas.microsoft.com/office/drawing/2014/main" id="{55187082-DF0B-DF31-41EB-C2F4A0EE9137}"/>
              </a:ext>
            </a:extLst>
          </p:cNvPr>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1"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extLst>
      <p:ext uri="{BB962C8B-B14F-4D97-AF65-F5344CB8AC3E}">
        <p14:creationId xmlns:p14="http://schemas.microsoft.com/office/powerpoint/2010/main" val="708136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B2915-CE0F-6C4C-9E55-B6E1489724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4279E0-994C-C543-867F-8C6950F061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75487-17D2-9D47-9657-2CE81B42E2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71589-2BDF-CB41-A6E5-57492F945B2E}" type="datetimeFigureOut">
              <a:rPr lang="en-US" smtClean="0"/>
              <a:t>12/1/2025</a:t>
            </a:fld>
            <a:endParaRPr lang="en-US"/>
          </a:p>
        </p:txBody>
      </p:sp>
      <p:sp>
        <p:nvSpPr>
          <p:cNvPr id="5" name="Footer Placeholder 4">
            <a:extLst>
              <a:ext uri="{FF2B5EF4-FFF2-40B4-BE49-F238E27FC236}">
                <a16:creationId xmlns:a16="http://schemas.microsoft.com/office/drawing/2014/main" id="{6EF3F84A-CC15-CC4F-86C4-E6EB0FADC7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B09C3E-A7CE-C448-84E2-C436C83FE7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E078F8-F842-FB4B-9F54-E6C983E097A2}" type="slidenum">
              <a:rPr lang="en-US" smtClean="0"/>
              <a:t>‹#›</a:t>
            </a:fld>
            <a:endParaRPr lang="en-US"/>
          </a:p>
        </p:txBody>
      </p:sp>
    </p:spTree>
    <p:extLst>
      <p:ext uri="{BB962C8B-B14F-4D97-AF65-F5344CB8AC3E}">
        <p14:creationId xmlns:p14="http://schemas.microsoft.com/office/powerpoint/2010/main" val="484456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3" r:id="rId5"/>
    <p:sldLayoutId id="2147483652" r:id="rId6"/>
    <p:sldLayoutId id="2147483654" r:id="rId7"/>
    <p:sldLayoutId id="2147483655" r:id="rId8"/>
    <p:sldLayoutId id="214748365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9.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D8783">
                <a:lumMod val="85000"/>
                <a:lumOff val="15000"/>
              </a:srgbClr>
            </a:gs>
            <a:gs pos="100000">
              <a:srgbClr val="097F8B">
                <a:lumMod val="98000"/>
                <a:lumOff val="2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0" name="TextBox 7">
            <a:extLst>
              <a:ext uri="{FF2B5EF4-FFF2-40B4-BE49-F238E27FC236}">
                <a16:creationId xmlns:a16="http://schemas.microsoft.com/office/drawing/2014/main" id="{F9A7D5EB-CBFC-964A-9CBA-D38551A97DEE}"/>
              </a:ext>
            </a:extLst>
          </p:cNvPr>
          <p:cNvSpPr txBox="1"/>
          <p:nvPr/>
        </p:nvSpPr>
        <p:spPr>
          <a:xfrm>
            <a:off x="1548857" y="3052773"/>
            <a:ext cx="10086974"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00" b="1" dirty="0"/>
              <a:t>Crime Data Analysis and Prediction Using </a:t>
            </a:r>
            <a:r>
              <a:rPr lang="en-US" sz="3000" b="1" dirty="0" err="1"/>
              <a:t>PySpark</a:t>
            </a:r>
            <a:br>
              <a:rPr lang="en-US" sz="5400" dirty="0"/>
            </a:br>
            <a:r>
              <a:rPr lang="en-US" sz="3600" dirty="0"/>
              <a:t>Big Data Analytics Lab-B22EF0505</a:t>
            </a:r>
            <a:endParaRPr lang="en-US" sz="3600" dirty="0">
              <a:solidFill>
                <a:schemeClr val="bg1"/>
              </a:solidFill>
              <a:latin typeface="Glacial Indifference" pitchFamily="2" charset="0"/>
              <a:ea typeface="Jost" pitchFamily="2" charset="0"/>
              <a:cs typeface="Poppins" pitchFamily="2" charset="77"/>
            </a:endParaRPr>
          </a:p>
        </p:txBody>
      </p:sp>
      <p:sp>
        <p:nvSpPr>
          <p:cNvPr id="13" name="TextBox 12">
            <a:extLst>
              <a:ext uri="{FF2B5EF4-FFF2-40B4-BE49-F238E27FC236}">
                <a16:creationId xmlns:a16="http://schemas.microsoft.com/office/drawing/2014/main" id="{36AAF3C5-3300-7445-8427-CCCC451D27FB}"/>
              </a:ext>
            </a:extLst>
          </p:cNvPr>
          <p:cNvSpPr txBox="1"/>
          <p:nvPr/>
        </p:nvSpPr>
        <p:spPr>
          <a:xfrm>
            <a:off x="540773" y="4587359"/>
            <a:ext cx="4434349" cy="1846659"/>
          </a:xfrm>
          <a:prstGeom prst="rect">
            <a:avLst/>
          </a:prstGeom>
          <a:noFill/>
        </p:spPr>
        <p:txBody>
          <a:bodyPr wrap="square" lIns="0" tIns="0" rIns="0" bIns="0" rtlCol="0">
            <a:spAutoFit/>
          </a:bodyPr>
          <a:lstStyle/>
          <a:p>
            <a:r>
              <a:rPr lang="en-ID" sz="2400" dirty="0">
                <a:solidFill>
                  <a:schemeClr val="bg1"/>
                </a:solidFill>
                <a:effectLst/>
                <a:latin typeface="Glacial Indifference" pitchFamily="2" charset="0"/>
                <a:ea typeface="Open Sans SemiBold" pitchFamily="2" charset="0"/>
                <a:cs typeface="Poppins" pitchFamily="2" charset="77"/>
              </a:rPr>
              <a:t> Presented By :</a:t>
            </a:r>
          </a:p>
          <a:p>
            <a:pPr algn="ctr"/>
            <a:r>
              <a:rPr lang="en-US" sz="2400" b="1" dirty="0">
                <a:latin typeface="Times New Roman" panose="02020603050405020304" pitchFamily="18" charset="0"/>
              </a:rPr>
              <a:t>B Chaitanya Reddy (</a:t>
            </a:r>
            <a:r>
              <a:rPr lang="en-US" sz="2400" b="1" dirty="0">
                <a:latin typeface="Times New Roman" panose="02020603050405020304" pitchFamily="18" charset="0"/>
                <a:ea typeface="Calibri" panose="020F0502020204030204" pitchFamily="34" charset="0"/>
              </a:rPr>
              <a:t>R23EF043)</a:t>
            </a:r>
          </a:p>
          <a:p>
            <a:pPr algn="ctr"/>
            <a:r>
              <a:rPr lang="en-US" sz="2400" b="1" dirty="0">
                <a:latin typeface="Times New Roman" panose="02020603050405020304" pitchFamily="18" charset="0"/>
                <a:ea typeface="Calibri" panose="020F0502020204030204" pitchFamily="34" charset="0"/>
              </a:rPr>
              <a:t>B Nishitha Mani (R23EF044)</a:t>
            </a:r>
          </a:p>
          <a:p>
            <a:endParaRPr lang="en-US" sz="2400" b="1" dirty="0">
              <a:latin typeface="Times New Roman" panose="02020603050405020304" pitchFamily="18" charset="0"/>
            </a:endParaRPr>
          </a:p>
          <a:p>
            <a:r>
              <a:rPr lang="en-ID" sz="2400" dirty="0">
                <a:solidFill>
                  <a:schemeClr val="bg1"/>
                </a:solidFill>
                <a:effectLst/>
                <a:latin typeface="Glacial Indifference" pitchFamily="2" charset="0"/>
                <a:ea typeface="Open Sans SemiBold" pitchFamily="2" charset="0"/>
                <a:cs typeface="Poppins" pitchFamily="2" charset="77"/>
              </a:rPr>
              <a:t> </a:t>
            </a:r>
          </a:p>
        </p:txBody>
      </p:sp>
      <p:sp>
        <p:nvSpPr>
          <p:cNvPr id="5" name="TextBox 4">
            <a:extLst>
              <a:ext uri="{FF2B5EF4-FFF2-40B4-BE49-F238E27FC236}">
                <a16:creationId xmlns:a16="http://schemas.microsoft.com/office/drawing/2014/main" id="{B19CFF64-7DFF-497D-AE90-BEF412635E34}"/>
              </a:ext>
            </a:extLst>
          </p:cNvPr>
          <p:cNvSpPr txBox="1"/>
          <p:nvPr/>
        </p:nvSpPr>
        <p:spPr>
          <a:xfrm>
            <a:off x="6900864" y="4600575"/>
            <a:ext cx="3780276" cy="1292662"/>
          </a:xfrm>
          <a:prstGeom prst="rect">
            <a:avLst/>
          </a:prstGeom>
          <a:noFill/>
        </p:spPr>
        <p:txBody>
          <a:bodyPr wrap="square">
            <a:spAutoFit/>
          </a:bodyPr>
          <a:lstStyle/>
          <a:p>
            <a:r>
              <a:rPr lang="en-US" altLang="en-US" sz="2400" dirty="0">
                <a:solidFill>
                  <a:schemeClr val="bg1"/>
                </a:solidFill>
                <a:latin typeface="Glacial Indifference" pitchFamily="2" charset="0"/>
                <a:ea typeface="Open Sans SemiBold" pitchFamily="2" charset="0"/>
                <a:cs typeface="Poppins" pitchFamily="2" charset="77"/>
              </a:rPr>
              <a:t>Lab handling Mentor Name:</a:t>
            </a:r>
          </a:p>
          <a:p>
            <a:r>
              <a:rPr lang="en-IN" dirty="0"/>
              <a:t>Dr. Tanuja K </a:t>
            </a:r>
          </a:p>
          <a:p>
            <a:r>
              <a:rPr lang="en-IN" dirty="0"/>
              <a:t>Dr. Sailaja Thota </a:t>
            </a:r>
          </a:p>
          <a:p>
            <a:r>
              <a:rPr lang="en-IN" dirty="0"/>
              <a:t>Dr. Priyanka Bharti</a:t>
            </a:r>
            <a:endParaRPr lang="en-US" altLang="en-US" sz="2400" dirty="0">
              <a:solidFill>
                <a:schemeClr val="bg1"/>
              </a:solidFill>
              <a:latin typeface="Glacial Indifference" pitchFamily="2" charset="0"/>
              <a:ea typeface="Open Sans SemiBold" pitchFamily="2" charset="0"/>
              <a:cs typeface="Poppins" pitchFamily="2" charset="77"/>
            </a:endParaRPr>
          </a:p>
        </p:txBody>
      </p:sp>
      <p:sp>
        <p:nvSpPr>
          <p:cNvPr id="9" name="TextBox 8">
            <a:extLst>
              <a:ext uri="{FF2B5EF4-FFF2-40B4-BE49-F238E27FC236}">
                <a16:creationId xmlns:a16="http://schemas.microsoft.com/office/drawing/2014/main" id="{7197953A-9FE7-4B94-9EAD-7A094C5F1E25}"/>
              </a:ext>
            </a:extLst>
          </p:cNvPr>
          <p:cNvSpPr txBox="1"/>
          <p:nvPr/>
        </p:nvSpPr>
        <p:spPr>
          <a:xfrm rot="10800000" flipV="1">
            <a:off x="4755007" y="4142884"/>
            <a:ext cx="2106528" cy="369332"/>
          </a:xfrm>
          <a:prstGeom prst="rect">
            <a:avLst/>
          </a:prstGeom>
          <a:noFill/>
        </p:spPr>
        <p:txBody>
          <a:bodyPr wrap="square">
            <a:spAutoFit/>
          </a:bodyPr>
          <a:lstStyle/>
          <a:p>
            <a:pPr algn="ctr"/>
            <a:r>
              <a:rPr lang="en-US" b="1" dirty="0">
                <a:latin typeface="Times New Roman" panose="02020603050405020304" pitchFamily="18" charset="0"/>
              </a:rPr>
              <a:t>5</a:t>
            </a:r>
            <a:r>
              <a:rPr lang="en-US" sz="1800" b="1" dirty="0">
                <a:latin typeface="Times New Roman" panose="02020603050405020304" pitchFamily="18" charset="0"/>
              </a:rPr>
              <a:t>:A Sec</a:t>
            </a:r>
          </a:p>
        </p:txBody>
      </p:sp>
    </p:spTree>
    <p:extLst>
      <p:ext uri="{BB962C8B-B14F-4D97-AF65-F5344CB8AC3E}">
        <p14:creationId xmlns:p14="http://schemas.microsoft.com/office/powerpoint/2010/main" val="1495595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D8783">
                <a:lumMod val="85000"/>
                <a:lumOff val="15000"/>
              </a:srgbClr>
            </a:gs>
            <a:gs pos="100000">
              <a:srgbClr val="097F8B">
                <a:lumMod val="98000"/>
                <a:lumOff val="2000"/>
              </a:srgbClr>
            </a:gs>
          </a:gsLst>
          <a:path path="circle">
            <a:fillToRect r="100000" b="100000"/>
          </a:path>
        </a:gradFill>
        <a:effectLst/>
      </p:bgPr>
    </p:bg>
    <p:spTree>
      <p:nvGrpSpPr>
        <p:cNvPr id="1" name=""/>
        <p:cNvGrpSpPr/>
        <p:nvPr/>
      </p:nvGrpSpPr>
      <p:grpSpPr>
        <a:xfrm>
          <a:off x="0" y="0"/>
          <a:ext cx="0" cy="0"/>
          <a:chOff x="0" y="0"/>
          <a:chExt cx="0" cy="0"/>
        </a:xfrm>
      </p:grpSpPr>
      <p:sp>
        <p:nvSpPr>
          <p:cNvPr id="3" name="TextBox 7">
            <a:extLst>
              <a:ext uri="{FF2B5EF4-FFF2-40B4-BE49-F238E27FC236}">
                <a16:creationId xmlns:a16="http://schemas.microsoft.com/office/drawing/2014/main" id="{2E01BD2E-3187-2343-866C-F0B6121A2EEE}"/>
              </a:ext>
            </a:extLst>
          </p:cNvPr>
          <p:cNvSpPr txBox="1"/>
          <p:nvPr/>
        </p:nvSpPr>
        <p:spPr>
          <a:xfrm>
            <a:off x="515938" y="253426"/>
            <a:ext cx="8438282" cy="92333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0" dirty="0">
                <a:solidFill>
                  <a:schemeClr val="bg1"/>
                </a:solidFill>
                <a:latin typeface="Glacial Indifference" pitchFamily="2" charset="0"/>
                <a:ea typeface="Jost" pitchFamily="2" charset="0"/>
                <a:cs typeface="Poppins" pitchFamily="2" charset="77"/>
              </a:rPr>
              <a:t>Table Of Contents</a:t>
            </a:r>
          </a:p>
        </p:txBody>
      </p:sp>
      <p:sp>
        <p:nvSpPr>
          <p:cNvPr id="10" name="TextBox 9">
            <a:extLst>
              <a:ext uri="{FF2B5EF4-FFF2-40B4-BE49-F238E27FC236}">
                <a16:creationId xmlns:a16="http://schemas.microsoft.com/office/drawing/2014/main" id="{5A03561B-BC7F-4146-A30B-7D59BB7C6994}"/>
              </a:ext>
            </a:extLst>
          </p:cNvPr>
          <p:cNvSpPr txBox="1"/>
          <p:nvPr/>
        </p:nvSpPr>
        <p:spPr>
          <a:xfrm>
            <a:off x="538143" y="1735747"/>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01</a:t>
            </a:r>
          </a:p>
        </p:txBody>
      </p:sp>
      <p:sp>
        <p:nvSpPr>
          <p:cNvPr id="11" name="TextBox 10">
            <a:extLst>
              <a:ext uri="{FF2B5EF4-FFF2-40B4-BE49-F238E27FC236}">
                <a16:creationId xmlns:a16="http://schemas.microsoft.com/office/drawing/2014/main" id="{B1718821-3A30-5F44-B386-485B50F01C22}"/>
              </a:ext>
            </a:extLst>
          </p:cNvPr>
          <p:cNvSpPr txBox="1"/>
          <p:nvPr/>
        </p:nvSpPr>
        <p:spPr>
          <a:xfrm>
            <a:off x="1540758" y="1856022"/>
            <a:ext cx="2104670" cy="430887"/>
          </a:xfrm>
          <a:prstGeom prst="rect">
            <a:avLst/>
          </a:prstGeom>
          <a:noFill/>
        </p:spPr>
        <p:txBody>
          <a:bodyPr wrap="square" lIns="0" tIns="0" rIns="0" bIns="0" rtlCol="0">
            <a:spAutoFit/>
          </a:bodyPr>
          <a:lstStyle/>
          <a:p>
            <a:pPr lvl="0"/>
            <a:r>
              <a:rPr lang="en-US" sz="2800" dirty="0"/>
              <a:t>Abstract</a:t>
            </a:r>
          </a:p>
        </p:txBody>
      </p:sp>
      <p:sp>
        <p:nvSpPr>
          <p:cNvPr id="13" name="TextBox 12">
            <a:extLst>
              <a:ext uri="{FF2B5EF4-FFF2-40B4-BE49-F238E27FC236}">
                <a16:creationId xmlns:a16="http://schemas.microsoft.com/office/drawing/2014/main" id="{B9676236-4086-384C-AAA6-1EE795DD92D3}"/>
              </a:ext>
            </a:extLst>
          </p:cNvPr>
          <p:cNvSpPr txBox="1"/>
          <p:nvPr/>
        </p:nvSpPr>
        <p:spPr>
          <a:xfrm>
            <a:off x="4536055" y="1735747"/>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02</a:t>
            </a:r>
          </a:p>
        </p:txBody>
      </p:sp>
      <p:sp>
        <p:nvSpPr>
          <p:cNvPr id="14" name="TextBox 13">
            <a:extLst>
              <a:ext uri="{FF2B5EF4-FFF2-40B4-BE49-F238E27FC236}">
                <a16:creationId xmlns:a16="http://schemas.microsoft.com/office/drawing/2014/main" id="{DDB91D3C-9E5A-264C-8D34-E3E25D4E5BEA}"/>
              </a:ext>
            </a:extLst>
          </p:cNvPr>
          <p:cNvSpPr txBox="1"/>
          <p:nvPr/>
        </p:nvSpPr>
        <p:spPr>
          <a:xfrm>
            <a:off x="5538670" y="1856022"/>
            <a:ext cx="2104670" cy="430887"/>
          </a:xfrm>
          <a:prstGeom prst="rect">
            <a:avLst/>
          </a:prstGeom>
          <a:noFill/>
        </p:spPr>
        <p:txBody>
          <a:bodyPr wrap="square" lIns="0" tIns="0" rIns="0" bIns="0" rtlCol="0">
            <a:spAutoFit/>
          </a:bodyPr>
          <a:lstStyle/>
          <a:p>
            <a:r>
              <a:rPr lang="en-US" sz="2800" dirty="0"/>
              <a:t>Introduction</a:t>
            </a:r>
          </a:p>
        </p:txBody>
      </p:sp>
      <p:sp>
        <p:nvSpPr>
          <p:cNvPr id="16" name="TextBox 15">
            <a:extLst>
              <a:ext uri="{FF2B5EF4-FFF2-40B4-BE49-F238E27FC236}">
                <a16:creationId xmlns:a16="http://schemas.microsoft.com/office/drawing/2014/main" id="{E4DF6677-C641-0A4D-9303-01CA93C134C4}"/>
              </a:ext>
            </a:extLst>
          </p:cNvPr>
          <p:cNvSpPr txBox="1"/>
          <p:nvPr/>
        </p:nvSpPr>
        <p:spPr>
          <a:xfrm>
            <a:off x="8361436" y="1735747"/>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03</a:t>
            </a:r>
          </a:p>
        </p:txBody>
      </p:sp>
      <p:sp>
        <p:nvSpPr>
          <p:cNvPr id="17" name="TextBox 16">
            <a:extLst>
              <a:ext uri="{FF2B5EF4-FFF2-40B4-BE49-F238E27FC236}">
                <a16:creationId xmlns:a16="http://schemas.microsoft.com/office/drawing/2014/main" id="{C2F4C570-3A40-9348-8E6A-E33E70A39D76}"/>
              </a:ext>
            </a:extLst>
          </p:cNvPr>
          <p:cNvSpPr txBox="1"/>
          <p:nvPr/>
        </p:nvSpPr>
        <p:spPr>
          <a:xfrm>
            <a:off x="9126960" y="1856022"/>
            <a:ext cx="2774527" cy="738664"/>
          </a:xfrm>
          <a:prstGeom prst="rect">
            <a:avLst/>
          </a:prstGeom>
          <a:noFill/>
        </p:spPr>
        <p:txBody>
          <a:bodyPr wrap="square" lIns="0" tIns="0" rIns="0" bIns="0" rtlCol="0">
            <a:spAutoFit/>
          </a:bodyPr>
          <a:lstStyle/>
          <a:p>
            <a:r>
              <a:rPr lang="en-US" sz="2400" dirty="0">
                <a:latin typeface="Glacial Indifference" pitchFamily="2" charset="0"/>
                <a:ea typeface="Jost" pitchFamily="2" charset="0"/>
                <a:cs typeface="Poppins" pitchFamily="2" charset="77"/>
              </a:rPr>
              <a:t>Objectives</a:t>
            </a:r>
          </a:p>
          <a:p>
            <a:pPr lvl="0"/>
            <a:endParaRPr lang="en-US" sz="2400" dirty="0"/>
          </a:p>
        </p:txBody>
      </p:sp>
      <p:sp>
        <p:nvSpPr>
          <p:cNvPr id="6" name="TextBox 5">
            <a:extLst>
              <a:ext uri="{FF2B5EF4-FFF2-40B4-BE49-F238E27FC236}">
                <a16:creationId xmlns:a16="http://schemas.microsoft.com/office/drawing/2014/main" id="{C51F86C3-94A1-A15F-9240-07F13811175A}"/>
              </a:ext>
            </a:extLst>
          </p:cNvPr>
          <p:cNvSpPr txBox="1"/>
          <p:nvPr/>
        </p:nvSpPr>
        <p:spPr>
          <a:xfrm>
            <a:off x="594229" y="4178862"/>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04</a:t>
            </a:r>
          </a:p>
        </p:txBody>
      </p:sp>
      <p:sp>
        <p:nvSpPr>
          <p:cNvPr id="7" name="TextBox 6">
            <a:extLst>
              <a:ext uri="{FF2B5EF4-FFF2-40B4-BE49-F238E27FC236}">
                <a16:creationId xmlns:a16="http://schemas.microsoft.com/office/drawing/2014/main" id="{03E33ECB-0CAC-549D-58D4-B17B5CEDB608}"/>
              </a:ext>
            </a:extLst>
          </p:cNvPr>
          <p:cNvSpPr txBox="1"/>
          <p:nvPr/>
        </p:nvSpPr>
        <p:spPr>
          <a:xfrm>
            <a:off x="1596843" y="4299137"/>
            <a:ext cx="2560819" cy="369332"/>
          </a:xfrm>
          <a:prstGeom prst="rect">
            <a:avLst/>
          </a:prstGeom>
          <a:noFill/>
        </p:spPr>
        <p:txBody>
          <a:bodyPr wrap="square" lIns="0" tIns="0" rIns="0" bIns="0" rtlCol="0">
            <a:spAutoFit/>
          </a:bodyPr>
          <a:lstStyle/>
          <a:p>
            <a:pPr lvl="0"/>
            <a:r>
              <a:rPr lang="en-US" sz="2400" dirty="0"/>
              <a:t>Literature Review</a:t>
            </a:r>
          </a:p>
        </p:txBody>
      </p:sp>
      <p:sp>
        <p:nvSpPr>
          <p:cNvPr id="18" name="TextBox 17">
            <a:extLst>
              <a:ext uri="{FF2B5EF4-FFF2-40B4-BE49-F238E27FC236}">
                <a16:creationId xmlns:a16="http://schemas.microsoft.com/office/drawing/2014/main" id="{52C46E13-A2FC-6791-7F37-A40AEE22550A}"/>
              </a:ext>
            </a:extLst>
          </p:cNvPr>
          <p:cNvSpPr txBox="1"/>
          <p:nvPr/>
        </p:nvSpPr>
        <p:spPr>
          <a:xfrm>
            <a:off x="4592141" y="4178862"/>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05</a:t>
            </a:r>
          </a:p>
        </p:txBody>
      </p:sp>
      <p:sp>
        <p:nvSpPr>
          <p:cNvPr id="21" name="TextBox 20">
            <a:extLst>
              <a:ext uri="{FF2B5EF4-FFF2-40B4-BE49-F238E27FC236}">
                <a16:creationId xmlns:a16="http://schemas.microsoft.com/office/drawing/2014/main" id="{443E62D1-7F09-E450-4CBE-48CC531A70AB}"/>
              </a:ext>
            </a:extLst>
          </p:cNvPr>
          <p:cNvSpPr txBox="1"/>
          <p:nvPr/>
        </p:nvSpPr>
        <p:spPr>
          <a:xfrm>
            <a:off x="8417522" y="4178862"/>
            <a:ext cx="958930"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06</a:t>
            </a:r>
          </a:p>
        </p:txBody>
      </p:sp>
      <p:sp>
        <p:nvSpPr>
          <p:cNvPr id="25" name="TextBox 24">
            <a:extLst>
              <a:ext uri="{FF2B5EF4-FFF2-40B4-BE49-F238E27FC236}">
                <a16:creationId xmlns:a16="http://schemas.microsoft.com/office/drawing/2014/main" id="{30B5E96D-DC42-42D3-85A0-5176A852F304}"/>
              </a:ext>
            </a:extLst>
          </p:cNvPr>
          <p:cNvSpPr txBox="1"/>
          <p:nvPr/>
        </p:nvSpPr>
        <p:spPr>
          <a:xfrm rot="10800000" flipV="1">
            <a:off x="4592139" y="5162259"/>
            <a:ext cx="958931"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07</a:t>
            </a:r>
          </a:p>
        </p:txBody>
      </p:sp>
      <p:sp>
        <p:nvSpPr>
          <p:cNvPr id="28" name="TextBox 27">
            <a:extLst>
              <a:ext uri="{FF2B5EF4-FFF2-40B4-BE49-F238E27FC236}">
                <a16:creationId xmlns:a16="http://schemas.microsoft.com/office/drawing/2014/main" id="{251271BB-B125-422E-B335-D0DA157BAFB1}"/>
              </a:ext>
            </a:extLst>
          </p:cNvPr>
          <p:cNvSpPr txBox="1"/>
          <p:nvPr/>
        </p:nvSpPr>
        <p:spPr>
          <a:xfrm rot="10800000" flipV="1">
            <a:off x="5594755" y="5256316"/>
            <a:ext cx="3488521" cy="461665"/>
          </a:xfrm>
          <a:prstGeom prst="rect">
            <a:avLst/>
          </a:prstGeom>
          <a:noFill/>
        </p:spPr>
        <p:txBody>
          <a:bodyPr wrap="square">
            <a:spAutoFit/>
          </a:bodyPr>
          <a:lstStyle/>
          <a:p>
            <a:pPr lvl="0"/>
            <a:r>
              <a:rPr lang="en-US" sz="2400"/>
              <a:t>Conclusions</a:t>
            </a:r>
            <a:endParaRPr lang="en-US" sz="2400" dirty="0"/>
          </a:p>
        </p:txBody>
      </p:sp>
      <p:sp>
        <p:nvSpPr>
          <p:cNvPr id="29" name="TextBox 28">
            <a:extLst>
              <a:ext uri="{FF2B5EF4-FFF2-40B4-BE49-F238E27FC236}">
                <a16:creationId xmlns:a16="http://schemas.microsoft.com/office/drawing/2014/main" id="{952A1361-C741-4A6B-8693-C05330392C36}"/>
              </a:ext>
            </a:extLst>
          </p:cNvPr>
          <p:cNvSpPr txBox="1"/>
          <p:nvPr/>
        </p:nvSpPr>
        <p:spPr>
          <a:xfrm rot="10800000" flipV="1">
            <a:off x="8417522" y="5314659"/>
            <a:ext cx="709438" cy="830997"/>
          </a:xfrm>
          <a:prstGeom prst="rect">
            <a:avLst/>
          </a:prstGeom>
          <a:noFill/>
        </p:spPr>
        <p:txBody>
          <a:bodyPr wrap="square" lIns="0" tIns="0" rIns="0" bIns="0" rtlCol="0">
            <a:spAutoFit/>
          </a:bodyPr>
          <a:lstStyle/>
          <a:p>
            <a:r>
              <a:rPr lang="en-ID" sz="5400" dirty="0">
                <a:solidFill>
                  <a:schemeClr val="bg1"/>
                </a:solidFill>
                <a:effectLst/>
                <a:latin typeface="Glacial Indifference" pitchFamily="2" charset="0"/>
                <a:ea typeface="Roboto" panose="02000000000000000000" pitchFamily="2" charset="0"/>
                <a:cs typeface="Poppins" pitchFamily="2" charset="77"/>
              </a:rPr>
              <a:t>08</a:t>
            </a:r>
          </a:p>
        </p:txBody>
      </p:sp>
      <p:sp>
        <p:nvSpPr>
          <p:cNvPr id="30" name="TextBox 29">
            <a:extLst>
              <a:ext uri="{FF2B5EF4-FFF2-40B4-BE49-F238E27FC236}">
                <a16:creationId xmlns:a16="http://schemas.microsoft.com/office/drawing/2014/main" id="{D8B028F5-307F-4268-AA07-9C5F27D163BF}"/>
              </a:ext>
            </a:extLst>
          </p:cNvPr>
          <p:cNvSpPr txBox="1"/>
          <p:nvPr/>
        </p:nvSpPr>
        <p:spPr>
          <a:xfrm>
            <a:off x="9364049" y="5559463"/>
            <a:ext cx="2465557" cy="369332"/>
          </a:xfrm>
          <a:prstGeom prst="rect">
            <a:avLst/>
          </a:prstGeom>
          <a:noFill/>
        </p:spPr>
        <p:txBody>
          <a:bodyPr wrap="square" lIns="0" tIns="0" rIns="0" bIns="0" rtlCol="0">
            <a:spAutoFit/>
          </a:bodyPr>
          <a:lstStyle/>
          <a:p>
            <a:r>
              <a:rPr lang="en-US" sz="2400"/>
              <a:t>References</a:t>
            </a:r>
            <a:endParaRPr lang="en-US" sz="2400" dirty="0"/>
          </a:p>
        </p:txBody>
      </p:sp>
      <p:sp>
        <p:nvSpPr>
          <p:cNvPr id="34" name="TextBox 33">
            <a:extLst>
              <a:ext uri="{FF2B5EF4-FFF2-40B4-BE49-F238E27FC236}">
                <a16:creationId xmlns:a16="http://schemas.microsoft.com/office/drawing/2014/main" id="{63407D4B-A8B3-46AF-85F9-2AE2468CFCBC}"/>
              </a:ext>
            </a:extLst>
          </p:cNvPr>
          <p:cNvSpPr txBox="1"/>
          <p:nvPr/>
        </p:nvSpPr>
        <p:spPr>
          <a:xfrm flipH="1">
            <a:off x="9376452" y="4178862"/>
            <a:ext cx="2039260" cy="830997"/>
          </a:xfrm>
          <a:prstGeom prst="rect">
            <a:avLst/>
          </a:prstGeom>
          <a:noFill/>
        </p:spPr>
        <p:txBody>
          <a:bodyPr wrap="square">
            <a:spAutoFit/>
          </a:bodyPr>
          <a:lstStyle/>
          <a:p>
            <a:r>
              <a:rPr lang="en-US" sz="2400" dirty="0"/>
              <a:t>Results and Discussions</a:t>
            </a:r>
          </a:p>
        </p:txBody>
      </p:sp>
      <p:sp>
        <p:nvSpPr>
          <p:cNvPr id="35" name="TextBox 34">
            <a:extLst>
              <a:ext uri="{FF2B5EF4-FFF2-40B4-BE49-F238E27FC236}">
                <a16:creationId xmlns:a16="http://schemas.microsoft.com/office/drawing/2014/main" id="{C1318BE8-1A76-40BD-850F-F4D28AF01B5E}"/>
              </a:ext>
            </a:extLst>
          </p:cNvPr>
          <p:cNvSpPr txBox="1"/>
          <p:nvPr/>
        </p:nvSpPr>
        <p:spPr>
          <a:xfrm>
            <a:off x="5681999" y="4451537"/>
            <a:ext cx="2404725" cy="369332"/>
          </a:xfrm>
          <a:prstGeom prst="rect">
            <a:avLst/>
          </a:prstGeom>
          <a:noFill/>
        </p:spPr>
        <p:txBody>
          <a:bodyPr wrap="square" lIns="0" tIns="0" rIns="0" bIns="0" rtlCol="0">
            <a:spAutoFit/>
          </a:bodyPr>
          <a:lstStyle/>
          <a:p>
            <a:pPr lvl="0"/>
            <a:r>
              <a:rPr lang="en-US" sz="2400" dirty="0"/>
              <a:t>Methodology</a:t>
            </a:r>
          </a:p>
        </p:txBody>
      </p:sp>
    </p:spTree>
    <p:extLst>
      <p:ext uri="{BB962C8B-B14F-4D97-AF65-F5344CB8AC3E}">
        <p14:creationId xmlns:p14="http://schemas.microsoft.com/office/powerpoint/2010/main" val="226335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8DAF0C98-CE0D-B942-95CA-965CFB20018E}"/>
              </a:ext>
            </a:extLst>
          </p:cNvPr>
          <p:cNvSpPr txBox="1"/>
          <p:nvPr/>
        </p:nvSpPr>
        <p:spPr>
          <a:xfrm>
            <a:off x="515606" y="1531570"/>
            <a:ext cx="5562810" cy="153888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Glacial Indifference" pitchFamily="2" charset="0"/>
                <a:cs typeface="Poppins" pitchFamily="2" charset="77"/>
              </a:rPr>
              <a:t>Abstract</a:t>
            </a:r>
            <a:br>
              <a:rPr lang="en-US" sz="8000" dirty="0"/>
            </a:br>
            <a:endParaRPr lang="en-US" sz="6000" dirty="0">
              <a:latin typeface="Glacial Indifference" pitchFamily="2" charset="0"/>
              <a:ea typeface="Jost" pitchFamily="2" charset="0"/>
              <a:cs typeface="Poppins" pitchFamily="2" charset="77"/>
            </a:endParaRPr>
          </a:p>
        </p:txBody>
      </p:sp>
      <p:sp>
        <p:nvSpPr>
          <p:cNvPr id="6" name="Rectangle 5">
            <a:extLst>
              <a:ext uri="{FF2B5EF4-FFF2-40B4-BE49-F238E27FC236}">
                <a16:creationId xmlns:a16="http://schemas.microsoft.com/office/drawing/2014/main" id="{CE82347A-521B-064E-8F1C-5D7310253755}"/>
              </a:ext>
            </a:extLst>
          </p:cNvPr>
          <p:cNvSpPr/>
          <p:nvPr/>
        </p:nvSpPr>
        <p:spPr>
          <a:xfrm>
            <a:off x="533190" y="2187898"/>
            <a:ext cx="10872230" cy="2769989"/>
          </a:xfrm>
          <a:prstGeom prst="rect">
            <a:avLst/>
          </a:prstGeom>
        </p:spPr>
        <p:txBody>
          <a:bodyPr wrap="square" lIns="0" tIns="0" rIns="0" bIns="0">
            <a:spAutoFit/>
          </a:bodyPr>
          <a:lstStyle/>
          <a:p>
            <a:pPr algn="just"/>
            <a:r>
              <a:rPr lang="en-US" dirty="0"/>
              <a:t>This project developed a robust crime data analysis and prediction system using Apache </a:t>
            </a:r>
            <a:r>
              <a:rPr lang="en-US" dirty="0" err="1"/>
              <a:t>PySpark</a:t>
            </a:r>
            <a:r>
              <a:rPr lang="en-US" dirty="0"/>
              <a:t> for scalable processing of over 878,000 San Francisco crime records. Its core objective was to develop highly accurate machine learning models to forecast crime hotspots, empowering law enforcement to optimize patrol routes and resource allocation. The methodology involved comprehensive data acquisition, sophisticated feature engineering (temporal, geospatial), and training Random Forest, Gradient Boosted Trees (GBT), and Logistic Regression classifiers. The system employed memory-optimized </a:t>
            </a:r>
            <a:r>
              <a:rPr lang="en-US" dirty="0" err="1"/>
              <a:t>PySpark</a:t>
            </a:r>
            <a:r>
              <a:rPr lang="en-US" dirty="0"/>
              <a:t> configurations for efficient large dataset handling. Key outcomes include GBT achieving a remarkable 99.14% accuracy (outperforming Random Forest's 98.85% and Logistic Regression's 82.15%), alongside generated interactive crime heat maps for visual analysis. This initiative demonstrates big data technologies combined with advanced machine learning can distill actionable intelligence from complex crime data, enhancing proactive law enforcement.</a:t>
            </a:r>
          </a:p>
        </p:txBody>
      </p:sp>
      <p:sp>
        <p:nvSpPr>
          <p:cNvPr id="9" name="Rectangle 8">
            <a:extLst>
              <a:ext uri="{FF2B5EF4-FFF2-40B4-BE49-F238E27FC236}">
                <a16:creationId xmlns:a16="http://schemas.microsoft.com/office/drawing/2014/main" id="{26D77697-57BB-6549-BA5F-8F8224998F64}"/>
              </a:ext>
            </a:extLst>
          </p:cNvPr>
          <p:cNvSpPr/>
          <p:nvPr/>
        </p:nvSpPr>
        <p:spPr>
          <a:xfrm>
            <a:off x="524701" y="4820418"/>
            <a:ext cx="1817457" cy="230832"/>
          </a:xfrm>
          <a:prstGeom prst="rect">
            <a:avLst/>
          </a:prstGeom>
        </p:spPr>
        <p:txBody>
          <a:bodyPr wrap="square" lIns="0" tIns="0" rIns="0" bIns="0">
            <a:spAutoFit/>
          </a:bodyPr>
          <a:lstStyle/>
          <a:p>
            <a:pPr algn="ctr"/>
            <a:r>
              <a:rPr lang="en-ID" sz="1500" dirty="0">
                <a:solidFill>
                  <a:schemeClr val="bg1"/>
                </a:solidFill>
                <a:latin typeface="Glacial Indifference" pitchFamily="2" charset="0"/>
                <a:ea typeface="Roboto" panose="02000000000000000000" pitchFamily="2" charset="0"/>
                <a:cs typeface="Poppins" pitchFamily="2" charset="77"/>
              </a:rPr>
              <a:t>Highlight Button</a:t>
            </a:r>
            <a:endParaRPr lang="en-US" sz="1500" dirty="0">
              <a:solidFill>
                <a:schemeClr val="bg1"/>
              </a:solidFill>
              <a:latin typeface="Glacial Indifference" pitchFamily="2" charset="0"/>
              <a:ea typeface="Roboto" panose="02000000000000000000" pitchFamily="2" charset="0"/>
              <a:cs typeface="Poppins" pitchFamily="2" charset="77"/>
            </a:endParaRPr>
          </a:p>
        </p:txBody>
      </p:sp>
    </p:spTree>
    <p:extLst>
      <p:ext uri="{BB962C8B-B14F-4D97-AF65-F5344CB8AC3E}">
        <p14:creationId xmlns:p14="http://schemas.microsoft.com/office/powerpoint/2010/main" val="2161298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8DAF0C98-CE0D-B942-95CA-965CFB20018E}"/>
              </a:ext>
            </a:extLst>
          </p:cNvPr>
          <p:cNvSpPr txBox="1"/>
          <p:nvPr/>
        </p:nvSpPr>
        <p:spPr>
          <a:xfrm>
            <a:off x="498271" y="980825"/>
            <a:ext cx="5562810" cy="276998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Glacial Indifference" pitchFamily="2" charset="0"/>
                <a:cs typeface="Poppins" pitchFamily="2" charset="77"/>
              </a:rPr>
              <a:t>Introduction</a:t>
            </a:r>
            <a:br>
              <a:rPr lang="en-US" sz="9600" dirty="0"/>
            </a:br>
            <a:br>
              <a:rPr lang="en-US" sz="8000" dirty="0"/>
            </a:br>
            <a:endParaRPr lang="en-US" sz="6000" dirty="0">
              <a:latin typeface="Glacial Indifference" pitchFamily="2" charset="0"/>
              <a:ea typeface="Jost" pitchFamily="2" charset="0"/>
              <a:cs typeface="Poppins" pitchFamily="2" charset="77"/>
            </a:endParaRPr>
          </a:p>
        </p:txBody>
      </p:sp>
      <p:sp>
        <p:nvSpPr>
          <p:cNvPr id="6" name="Rectangle 5">
            <a:extLst>
              <a:ext uri="{FF2B5EF4-FFF2-40B4-BE49-F238E27FC236}">
                <a16:creationId xmlns:a16="http://schemas.microsoft.com/office/drawing/2014/main" id="{CE82347A-521B-064E-8F1C-5D7310253755}"/>
              </a:ext>
            </a:extLst>
          </p:cNvPr>
          <p:cNvSpPr/>
          <p:nvPr/>
        </p:nvSpPr>
        <p:spPr>
          <a:xfrm>
            <a:off x="257055" y="1581512"/>
            <a:ext cx="5641470" cy="2215991"/>
          </a:xfrm>
          <a:prstGeom prst="rect">
            <a:avLst/>
          </a:prstGeom>
        </p:spPr>
        <p:txBody>
          <a:bodyPr wrap="square" lIns="0" tIns="0" rIns="0" bIns="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Cities generate large amounts of crime data every day.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policing reacts after crime occurs.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Predictive policing helps to anticipate crime and improve safety.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Big data tools like </a:t>
            </a:r>
            <a:r>
              <a:rPr lang="en-US" dirty="0" err="1">
                <a:latin typeface="Times New Roman" panose="02020603050405020304" pitchFamily="18" charset="0"/>
                <a:cs typeface="Times New Roman" panose="02020603050405020304" pitchFamily="18" charset="0"/>
              </a:rPr>
              <a:t>PySpark</a:t>
            </a:r>
            <a:r>
              <a:rPr lang="en-US" dirty="0">
                <a:latin typeface="Times New Roman" panose="02020603050405020304" pitchFamily="18" charset="0"/>
                <a:cs typeface="Times New Roman" panose="02020603050405020304" pitchFamily="18" charset="0"/>
              </a:rPr>
              <a:t> make it possible to analyze huge datasets efficiently.</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PySpark</a:t>
            </a:r>
            <a:r>
              <a:rPr lang="en-US" dirty="0">
                <a:latin typeface="Times New Roman" panose="02020603050405020304" pitchFamily="18" charset="0"/>
                <a:cs typeface="Times New Roman" panose="02020603050405020304" pitchFamily="18" charset="0"/>
              </a:rPr>
              <a:t> supports distributed processing, ML algorithms, and memory-efficient computation.</a:t>
            </a:r>
          </a:p>
        </p:txBody>
      </p:sp>
      <p:sp>
        <p:nvSpPr>
          <p:cNvPr id="3" name="TextBox 2">
            <a:extLst>
              <a:ext uri="{FF2B5EF4-FFF2-40B4-BE49-F238E27FC236}">
                <a16:creationId xmlns:a16="http://schemas.microsoft.com/office/drawing/2014/main" id="{99C76379-A7BA-6CC3-03C4-D38C8F397639}"/>
              </a:ext>
            </a:extLst>
          </p:cNvPr>
          <p:cNvSpPr txBox="1"/>
          <p:nvPr/>
        </p:nvSpPr>
        <p:spPr>
          <a:xfrm>
            <a:off x="6061081" y="980825"/>
            <a:ext cx="6209070" cy="707886"/>
          </a:xfrm>
          <a:prstGeom prst="rect">
            <a:avLst/>
          </a:prstGeom>
          <a:noFill/>
        </p:spPr>
        <p:txBody>
          <a:bodyPr wrap="square">
            <a:spAutoFit/>
          </a:bodyPr>
          <a:lstStyle/>
          <a:p>
            <a:r>
              <a:rPr lang="en-US" sz="4000" dirty="0">
                <a:latin typeface="Glacial Indifference" pitchFamily="2" charset="0"/>
                <a:cs typeface="Poppins" pitchFamily="2" charset="77"/>
              </a:rPr>
              <a:t>Problem Statement</a:t>
            </a:r>
            <a:endParaRPr lang="en-US" sz="4000" dirty="0">
              <a:latin typeface="Glacial Indifference" pitchFamily="2" charset="0"/>
              <a:ea typeface="Jost" pitchFamily="2" charset="0"/>
              <a:cs typeface="Poppins" pitchFamily="2" charset="77"/>
            </a:endParaRPr>
          </a:p>
        </p:txBody>
      </p:sp>
      <p:sp>
        <p:nvSpPr>
          <p:cNvPr id="5" name="Rectangle 1">
            <a:extLst>
              <a:ext uri="{FF2B5EF4-FFF2-40B4-BE49-F238E27FC236}">
                <a16:creationId xmlns:a16="http://schemas.microsoft.com/office/drawing/2014/main" id="{D1E5DE51-A3FF-B6E8-4D71-76489F1D5651}"/>
              </a:ext>
            </a:extLst>
          </p:cNvPr>
          <p:cNvSpPr>
            <a:spLocks noChangeArrowheads="1"/>
          </p:cNvSpPr>
          <p:nvPr/>
        </p:nvSpPr>
        <p:spPr bwMode="auto">
          <a:xfrm>
            <a:off x="6055588" y="1688711"/>
            <a:ext cx="589494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dirty="0">
                <a:latin typeface="Arial" panose="020B0604020202020204" pitchFamily="34" charset="0"/>
              </a:rPr>
              <a:t>Need to process large-scale crime data efficiently.</a:t>
            </a:r>
          </a:p>
          <a:p>
            <a:pPr lvl="0" eaLnBrk="0" fontAlgn="base" hangingPunct="0">
              <a:spcBef>
                <a:spcPct val="0"/>
              </a:spcBef>
              <a:spcAft>
                <a:spcPct val="0"/>
              </a:spcAft>
              <a:buFontTx/>
              <a:buChar char="•"/>
            </a:pPr>
            <a:r>
              <a:rPr lang="en-US" altLang="en-US" dirty="0">
                <a:latin typeface="Arial" panose="020B0604020202020204" pitchFamily="34" charset="0"/>
              </a:rPr>
              <a:t>Identify crime patterns based on time and location.</a:t>
            </a:r>
          </a:p>
          <a:p>
            <a:pPr lvl="0" eaLnBrk="0" fontAlgn="base" hangingPunct="0">
              <a:spcBef>
                <a:spcPct val="0"/>
              </a:spcBef>
              <a:spcAft>
                <a:spcPct val="0"/>
              </a:spcAft>
              <a:buFontTx/>
              <a:buChar char="•"/>
            </a:pPr>
            <a:r>
              <a:rPr lang="en-US" altLang="en-US" dirty="0">
                <a:latin typeface="Arial" panose="020B0604020202020204" pitchFamily="34" charset="0"/>
              </a:rPr>
              <a:t>Build accurate models to predict crime hotspots (target: 98%+).</a:t>
            </a:r>
          </a:p>
          <a:p>
            <a:pPr lvl="0" eaLnBrk="0" fontAlgn="base" hangingPunct="0">
              <a:spcBef>
                <a:spcPct val="0"/>
              </a:spcBef>
              <a:spcAft>
                <a:spcPct val="0"/>
              </a:spcAft>
              <a:buFontTx/>
              <a:buChar char="•"/>
            </a:pPr>
            <a:r>
              <a:rPr lang="en-US" altLang="en-US" dirty="0">
                <a:latin typeface="Arial" panose="020B0604020202020204" pitchFamily="34" charset="0"/>
              </a:rPr>
              <a:t>Create visualizations like crime heat maps to support decision-making.</a:t>
            </a:r>
          </a:p>
        </p:txBody>
      </p:sp>
      <p:cxnSp>
        <p:nvCxnSpPr>
          <p:cNvPr id="10" name="Straight Connector 9">
            <a:extLst>
              <a:ext uri="{FF2B5EF4-FFF2-40B4-BE49-F238E27FC236}">
                <a16:creationId xmlns:a16="http://schemas.microsoft.com/office/drawing/2014/main" id="{76A58E4F-8B65-6195-07CD-C89150DBE9C0}"/>
              </a:ext>
            </a:extLst>
          </p:cNvPr>
          <p:cNvCxnSpPr>
            <a:cxnSpLocks/>
          </p:cNvCxnSpPr>
          <p:nvPr/>
        </p:nvCxnSpPr>
        <p:spPr>
          <a:xfrm>
            <a:off x="5898525" y="110613"/>
            <a:ext cx="0" cy="66367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496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CFED0ED9-EF2C-2D45-BFD5-146BBD13C2D2}"/>
              </a:ext>
            </a:extLst>
          </p:cNvPr>
          <p:cNvSpPr txBox="1"/>
          <p:nvPr/>
        </p:nvSpPr>
        <p:spPr>
          <a:xfrm>
            <a:off x="533341" y="1314395"/>
            <a:ext cx="7138120"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Glacial Indifference" pitchFamily="2" charset="0"/>
                <a:ea typeface="Jost" pitchFamily="2" charset="0"/>
                <a:cs typeface="Poppins" pitchFamily="2" charset="77"/>
              </a:rPr>
              <a:t>Objectives</a:t>
            </a:r>
          </a:p>
        </p:txBody>
      </p:sp>
      <p:sp>
        <p:nvSpPr>
          <p:cNvPr id="23" name="TextBox 22">
            <a:extLst>
              <a:ext uri="{FF2B5EF4-FFF2-40B4-BE49-F238E27FC236}">
                <a16:creationId xmlns:a16="http://schemas.microsoft.com/office/drawing/2014/main" id="{96B91E86-2104-03C5-DE7D-8A93C3E8B856}"/>
              </a:ext>
            </a:extLst>
          </p:cNvPr>
          <p:cNvSpPr txBox="1"/>
          <p:nvPr/>
        </p:nvSpPr>
        <p:spPr>
          <a:xfrm>
            <a:off x="4662172" y="4433364"/>
            <a:ext cx="819397" cy="55399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solidFill>
                  <a:schemeClr val="bg1"/>
                </a:solidFill>
                <a:latin typeface="Glacial Indifference" pitchFamily="2" charset="0"/>
                <a:ea typeface="Jost" pitchFamily="2" charset="0"/>
                <a:cs typeface="Poppins" pitchFamily="2" charset="77"/>
              </a:rPr>
              <a:t>02</a:t>
            </a:r>
            <a:endParaRPr lang="en-US" sz="3200" dirty="0">
              <a:solidFill>
                <a:schemeClr val="bg1"/>
              </a:solidFill>
              <a:latin typeface="Glacial Indifference" pitchFamily="2" charset="0"/>
              <a:ea typeface="Jost" pitchFamily="2" charset="0"/>
              <a:cs typeface="Poppins" pitchFamily="2" charset="77"/>
            </a:endParaRPr>
          </a:p>
        </p:txBody>
      </p:sp>
      <p:sp>
        <p:nvSpPr>
          <p:cNvPr id="24" name="TextBox 7">
            <a:extLst>
              <a:ext uri="{FF2B5EF4-FFF2-40B4-BE49-F238E27FC236}">
                <a16:creationId xmlns:a16="http://schemas.microsoft.com/office/drawing/2014/main" id="{03769A18-BD34-357F-0104-5E31197AE6B6}"/>
              </a:ext>
            </a:extLst>
          </p:cNvPr>
          <p:cNvSpPr txBox="1"/>
          <p:nvPr/>
        </p:nvSpPr>
        <p:spPr>
          <a:xfrm>
            <a:off x="5303070" y="4546550"/>
            <a:ext cx="2465540" cy="24622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chemeClr val="bg1"/>
                </a:solidFill>
                <a:latin typeface="Glacial Indifference" pitchFamily="2" charset="0"/>
                <a:ea typeface="Jost" pitchFamily="2" charset="0"/>
                <a:cs typeface="Poppins" pitchFamily="2" charset="77"/>
              </a:rPr>
              <a:t>We Are Respectful</a:t>
            </a:r>
          </a:p>
        </p:txBody>
      </p:sp>
      <p:sp>
        <p:nvSpPr>
          <p:cNvPr id="26" name="TextBox 25">
            <a:extLst>
              <a:ext uri="{FF2B5EF4-FFF2-40B4-BE49-F238E27FC236}">
                <a16:creationId xmlns:a16="http://schemas.microsoft.com/office/drawing/2014/main" id="{42EC0517-894D-7E5C-F834-A0595C0C83A4}"/>
              </a:ext>
            </a:extLst>
          </p:cNvPr>
          <p:cNvSpPr txBox="1"/>
          <p:nvPr/>
        </p:nvSpPr>
        <p:spPr>
          <a:xfrm>
            <a:off x="4530735" y="3727817"/>
            <a:ext cx="986950" cy="13849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dirty="0">
                <a:solidFill>
                  <a:schemeClr val="bg1"/>
                </a:solidFill>
                <a:latin typeface="Glacial Indifference" pitchFamily="2" charset="0"/>
                <a:ea typeface="Jost" pitchFamily="2" charset="0"/>
                <a:cs typeface="Poppins" pitchFamily="2" charset="77"/>
              </a:rPr>
              <a:t>Rules 02</a:t>
            </a:r>
            <a:endParaRPr lang="en-US" sz="800" dirty="0">
              <a:solidFill>
                <a:schemeClr val="bg1"/>
              </a:solidFill>
              <a:latin typeface="Glacial Indifference" pitchFamily="2" charset="0"/>
              <a:ea typeface="Jost" pitchFamily="2" charset="0"/>
              <a:cs typeface="Poppins" pitchFamily="2" charset="77"/>
            </a:endParaRPr>
          </a:p>
        </p:txBody>
      </p:sp>
      <p:sp>
        <p:nvSpPr>
          <p:cNvPr id="3" name="Rectangle 1">
            <a:extLst>
              <a:ext uri="{FF2B5EF4-FFF2-40B4-BE49-F238E27FC236}">
                <a16:creationId xmlns:a16="http://schemas.microsoft.com/office/drawing/2014/main" id="{33063B7D-D8EC-97C7-21B6-E80F04F9BF4A}"/>
              </a:ext>
            </a:extLst>
          </p:cNvPr>
          <p:cNvSpPr>
            <a:spLocks noChangeArrowheads="1"/>
          </p:cNvSpPr>
          <p:nvPr/>
        </p:nvSpPr>
        <p:spPr bwMode="auto">
          <a:xfrm>
            <a:off x="533341" y="1929948"/>
            <a:ext cx="673269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2000" dirty="0">
                <a:latin typeface="Arial" panose="020B0604020202020204" pitchFamily="34" charset="0"/>
              </a:rPr>
              <a:t>Load and preprocess crime data using </a:t>
            </a:r>
            <a:r>
              <a:rPr lang="en-US" altLang="en-US" sz="2000" dirty="0" err="1">
                <a:latin typeface="Arial" panose="020B0604020202020204" pitchFamily="34" charset="0"/>
              </a:rPr>
              <a:t>PySpark</a:t>
            </a:r>
            <a:r>
              <a:rPr lang="en-US" altLang="en-US" sz="2000" dirty="0">
                <a:latin typeface="Arial" panose="020B0604020202020204" pitchFamily="34" charset="0"/>
              </a:rPr>
              <a:t>.</a:t>
            </a:r>
          </a:p>
          <a:p>
            <a:pPr lvl="0" eaLnBrk="0" fontAlgn="base" hangingPunct="0">
              <a:spcBef>
                <a:spcPct val="0"/>
              </a:spcBef>
              <a:spcAft>
                <a:spcPct val="0"/>
              </a:spcAft>
              <a:buFontTx/>
              <a:buChar char="•"/>
            </a:pPr>
            <a:r>
              <a:rPr lang="en-US" altLang="en-US" sz="2000" dirty="0">
                <a:latin typeface="Arial" panose="020B0604020202020204" pitchFamily="34" charset="0"/>
              </a:rPr>
              <a:t>Discover temporal patterns (hour/day/month).</a:t>
            </a:r>
          </a:p>
          <a:p>
            <a:pPr lvl="0" eaLnBrk="0" fontAlgn="base" hangingPunct="0">
              <a:spcBef>
                <a:spcPct val="0"/>
              </a:spcBef>
              <a:spcAft>
                <a:spcPct val="0"/>
              </a:spcAft>
              <a:buFontTx/>
              <a:buChar char="•"/>
            </a:pPr>
            <a:r>
              <a:rPr lang="en-US" altLang="en-US" sz="2000" dirty="0">
                <a:latin typeface="Arial" panose="020B0604020202020204" pitchFamily="34" charset="0"/>
              </a:rPr>
              <a:t>Identify spatial patterns (districts/coordinates).</a:t>
            </a:r>
          </a:p>
          <a:p>
            <a:pPr lvl="0" eaLnBrk="0" fontAlgn="base" hangingPunct="0">
              <a:spcBef>
                <a:spcPct val="0"/>
              </a:spcBef>
              <a:spcAft>
                <a:spcPct val="0"/>
              </a:spcAft>
              <a:buFontTx/>
              <a:buChar char="•"/>
            </a:pPr>
            <a:r>
              <a:rPr lang="en-US" altLang="en-US" sz="2000" dirty="0">
                <a:latin typeface="Arial" panose="020B0604020202020204" pitchFamily="34" charset="0"/>
              </a:rPr>
              <a:t>Develop and compare multiple ML models.</a:t>
            </a:r>
          </a:p>
          <a:p>
            <a:pPr lvl="0" eaLnBrk="0" fontAlgn="base" hangingPunct="0">
              <a:spcBef>
                <a:spcPct val="0"/>
              </a:spcBef>
              <a:spcAft>
                <a:spcPct val="0"/>
              </a:spcAft>
              <a:buFontTx/>
              <a:buChar char="•"/>
            </a:pPr>
            <a:r>
              <a:rPr lang="en-US" altLang="en-US" sz="2000" dirty="0">
                <a:latin typeface="Arial" panose="020B0604020202020204" pitchFamily="34" charset="0"/>
              </a:rPr>
              <a:t>Achieve 98%+ accuracy in predicting high-risk zones.</a:t>
            </a:r>
          </a:p>
          <a:p>
            <a:pPr lvl="0" eaLnBrk="0" fontAlgn="base" hangingPunct="0">
              <a:spcBef>
                <a:spcPct val="0"/>
              </a:spcBef>
              <a:spcAft>
                <a:spcPct val="0"/>
              </a:spcAft>
              <a:buFontTx/>
              <a:buChar char="•"/>
            </a:pPr>
            <a:r>
              <a:rPr lang="en-US" altLang="en-US" sz="2000" dirty="0">
                <a:latin typeface="Arial" panose="020B0604020202020204" pitchFamily="34" charset="0"/>
              </a:rPr>
              <a:t>Generate interactive heat maps and dashboards.</a:t>
            </a:r>
          </a:p>
          <a:p>
            <a:pPr lvl="0" eaLnBrk="0" fontAlgn="base" hangingPunct="0">
              <a:spcBef>
                <a:spcPct val="0"/>
              </a:spcBef>
              <a:spcAft>
                <a:spcPct val="0"/>
              </a:spcAft>
              <a:buFontTx/>
              <a:buChar char="•"/>
            </a:pPr>
            <a:r>
              <a:rPr lang="en-US" altLang="en-US" sz="2000" dirty="0">
                <a:latin typeface="Arial" panose="020B0604020202020204" pitchFamily="34" charset="0"/>
              </a:rPr>
              <a:t>Provide insights for better police resource allocation.</a:t>
            </a:r>
          </a:p>
        </p:txBody>
      </p:sp>
    </p:spTree>
    <p:extLst>
      <p:ext uri="{BB962C8B-B14F-4D97-AF65-F5344CB8AC3E}">
        <p14:creationId xmlns:p14="http://schemas.microsoft.com/office/powerpoint/2010/main" val="130275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F0610C-6F4A-F147-A91D-71B1B8A34446}"/>
              </a:ext>
            </a:extLst>
          </p:cNvPr>
          <p:cNvSpPr txBox="1"/>
          <p:nvPr/>
        </p:nvSpPr>
        <p:spPr>
          <a:xfrm>
            <a:off x="532562" y="989654"/>
            <a:ext cx="10276951" cy="615553"/>
          </a:xfrm>
          <a:prstGeom prst="rect">
            <a:avLst/>
          </a:prstGeom>
          <a:noFill/>
        </p:spPr>
        <p:txBody>
          <a:bodyPr wrap="square" lIns="0" tIns="0" rIns="0" bIns="0" rtlCol="0">
            <a:spAutoFit/>
          </a:bodyPr>
          <a:lstStyle/>
          <a:p>
            <a:r>
              <a:rPr lang="en-US" sz="4000" dirty="0">
                <a:latin typeface="Glacial Indifference" pitchFamily="2" charset="0"/>
                <a:ea typeface="Open Sans SemiBold" pitchFamily="2" charset="0"/>
                <a:cs typeface="Poppins" pitchFamily="2" charset="77"/>
              </a:rPr>
              <a:t>Literature Review</a:t>
            </a:r>
            <a:endParaRPr lang="en-ID" sz="4000" dirty="0">
              <a:latin typeface="Glacial Indifference" pitchFamily="2" charset="0"/>
              <a:ea typeface="Open Sans SemiBold" pitchFamily="2" charset="0"/>
              <a:cs typeface="Poppins" pitchFamily="2" charset="77"/>
            </a:endParaRPr>
          </a:p>
        </p:txBody>
      </p:sp>
      <p:sp>
        <p:nvSpPr>
          <p:cNvPr id="3" name="Rectangle 1">
            <a:extLst>
              <a:ext uri="{FF2B5EF4-FFF2-40B4-BE49-F238E27FC236}">
                <a16:creationId xmlns:a16="http://schemas.microsoft.com/office/drawing/2014/main" id="{B2BE8804-A7C9-6C8B-7F77-54F33BEBD56E}"/>
              </a:ext>
            </a:extLst>
          </p:cNvPr>
          <p:cNvSpPr>
            <a:spLocks noChangeArrowheads="1"/>
          </p:cNvSpPr>
          <p:nvPr/>
        </p:nvSpPr>
        <p:spPr bwMode="auto">
          <a:xfrm>
            <a:off x="385079" y="1778315"/>
            <a:ext cx="1127436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dirty="0">
                <a:latin typeface="Arial" panose="020B0604020202020204" pitchFamily="34" charset="0"/>
              </a:rPr>
              <a:t>Crimes follow patterns in time and space, making prediction possible.</a:t>
            </a:r>
          </a:p>
          <a:p>
            <a:pPr lvl="0" eaLnBrk="0" fontAlgn="base" hangingPunct="0">
              <a:spcBef>
                <a:spcPct val="0"/>
              </a:spcBef>
              <a:spcAft>
                <a:spcPct val="0"/>
              </a:spcAft>
              <a:buFontTx/>
              <a:buChar char="•"/>
            </a:pPr>
            <a:r>
              <a:rPr lang="en-US" altLang="en-US" dirty="0">
                <a:latin typeface="Arial" panose="020B0604020202020204" pitchFamily="34" charset="0"/>
              </a:rPr>
              <a:t>Hotspot mapping shows historical crime data can accurately predict future crime areas (Chainey et al., 2008).</a:t>
            </a:r>
          </a:p>
          <a:p>
            <a:pPr lvl="0" eaLnBrk="0" fontAlgn="base" hangingPunct="0">
              <a:spcBef>
                <a:spcPct val="0"/>
              </a:spcBef>
              <a:spcAft>
                <a:spcPct val="0"/>
              </a:spcAft>
              <a:buFontTx/>
              <a:buChar char="•"/>
            </a:pPr>
            <a:r>
              <a:rPr lang="en-US" altLang="en-US" dirty="0">
                <a:latin typeface="Arial" panose="020B0604020202020204" pitchFamily="34" charset="0"/>
              </a:rPr>
              <a:t>Crimes often cluster spatially and temporally (Mohler et al., 2011).</a:t>
            </a:r>
          </a:p>
          <a:p>
            <a:pPr lvl="0" eaLnBrk="0" fontAlgn="base" hangingPunct="0">
              <a:spcBef>
                <a:spcPct val="0"/>
              </a:spcBef>
              <a:spcAft>
                <a:spcPct val="0"/>
              </a:spcAft>
              <a:buFontTx/>
              <a:buChar char="•"/>
            </a:pPr>
            <a:r>
              <a:rPr lang="en-US" altLang="en-US" dirty="0">
                <a:latin typeface="Arial" panose="020B0604020202020204" pitchFamily="34" charset="0"/>
              </a:rPr>
              <a:t>Machine learning models like Random Forests improve crime prediction accuracy (Wang et al., 2013).</a:t>
            </a:r>
          </a:p>
          <a:p>
            <a:pPr lvl="0" eaLnBrk="0" fontAlgn="base" hangingPunct="0">
              <a:spcBef>
                <a:spcPct val="0"/>
              </a:spcBef>
              <a:spcAft>
                <a:spcPct val="0"/>
              </a:spcAft>
              <a:buFontTx/>
              <a:buChar char="•"/>
            </a:pPr>
            <a:r>
              <a:rPr lang="en-US" altLang="en-US" dirty="0">
                <a:latin typeface="Arial" panose="020B0604020202020204" pitchFamily="34" charset="0"/>
              </a:rPr>
              <a:t>Big data tools are needed because crime datasets are very large and cannot be processed on a single machine.</a:t>
            </a:r>
          </a:p>
          <a:p>
            <a:pPr lvl="0" eaLnBrk="0" fontAlgn="base" hangingPunct="0">
              <a:spcBef>
                <a:spcPct val="0"/>
              </a:spcBef>
              <a:spcAft>
                <a:spcPct val="0"/>
              </a:spcAft>
              <a:buFontTx/>
              <a:buChar char="•"/>
            </a:pPr>
            <a:r>
              <a:rPr lang="en-US" altLang="en-US" dirty="0">
                <a:latin typeface="Arial" panose="020B0604020202020204" pitchFamily="34" charset="0"/>
              </a:rPr>
              <a:t>Apache Spark provides fast, distributed, in-memory processing for large datasets.</a:t>
            </a:r>
          </a:p>
          <a:p>
            <a:pPr lvl="0" eaLnBrk="0" fontAlgn="base" hangingPunct="0">
              <a:spcBef>
                <a:spcPct val="0"/>
              </a:spcBef>
              <a:spcAft>
                <a:spcPct val="0"/>
              </a:spcAft>
              <a:buFontTx/>
              <a:buChar char="•"/>
            </a:pPr>
            <a:r>
              <a:rPr lang="en-US" altLang="en-US" dirty="0" err="1">
                <a:latin typeface="Arial" panose="020B0604020202020204" pitchFamily="34" charset="0"/>
              </a:rPr>
              <a:t>PySpark</a:t>
            </a:r>
            <a:r>
              <a:rPr lang="en-US" altLang="en-US" dirty="0">
                <a:latin typeface="Arial" panose="020B0604020202020204" pitchFamily="34" charset="0"/>
              </a:rPr>
              <a:t> supports </a:t>
            </a:r>
            <a:r>
              <a:rPr lang="en-US" altLang="en-US" dirty="0" err="1">
                <a:latin typeface="Arial" panose="020B0604020202020204" pitchFamily="34" charset="0"/>
              </a:rPr>
              <a:t>DataFrames</a:t>
            </a:r>
            <a:r>
              <a:rPr lang="en-US" altLang="en-US" dirty="0">
                <a:latin typeface="Arial" panose="020B0604020202020204" pitchFamily="34" charset="0"/>
              </a:rPr>
              <a:t>, </a:t>
            </a:r>
            <a:r>
              <a:rPr lang="en-US" altLang="en-US" dirty="0" err="1">
                <a:latin typeface="Arial" panose="020B0604020202020204" pitchFamily="34" charset="0"/>
              </a:rPr>
              <a:t>MLlib</a:t>
            </a:r>
            <a:r>
              <a:rPr lang="en-US" altLang="en-US" dirty="0">
                <a:latin typeface="Arial" panose="020B0604020202020204" pitchFamily="34" charset="0"/>
              </a:rPr>
              <a:t> for scalable machine learning, and integrates well with Python libraries.</a:t>
            </a:r>
          </a:p>
        </p:txBody>
      </p:sp>
    </p:spTree>
    <p:extLst>
      <p:ext uri="{BB962C8B-B14F-4D97-AF65-F5344CB8AC3E}">
        <p14:creationId xmlns:p14="http://schemas.microsoft.com/office/powerpoint/2010/main" val="163134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ED8783">
                <a:lumMod val="85000"/>
                <a:lumOff val="15000"/>
              </a:srgbClr>
            </a:gs>
            <a:gs pos="100000">
              <a:srgbClr val="097F8B">
                <a:lumMod val="98000"/>
                <a:lumOff val="2000"/>
              </a:srgbClr>
            </a:gs>
          </a:gsLst>
          <a:path path="circle">
            <a:fillToRect r="100000" b="100000"/>
          </a:path>
        </a:gradFill>
        <a:effectLst/>
      </p:bgPr>
    </p:bg>
    <p:spTree>
      <p:nvGrpSpPr>
        <p:cNvPr id="1" name=""/>
        <p:cNvGrpSpPr/>
        <p:nvPr/>
      </p:nvGrpSpPr>
      <p:grpSpPr>
        <a:xfrm>
          <a:off x="0" y="0"/>
          <a:ext cx="0" cy="0"/>
          <a:chOff x="0" y="0"/>
          <a:chExt cx="0" cy="0"/>
        </a:xfrm>
      </p:grpSpPr>
      <p:sp>
        <p:nvSpPr>
          <p:cNvPr id="12" name="TextBox 7">
            <a:extLst>
              <a:ext uri="{FF2B5EF4-FFF2-40B4-BE49-F238E27FC236}">
                <a16:creationId xmlns:a16="http://schemas.microsoft.com/office/drawing/2014/main" id="{F1C80F0A-D252-834D-823B-2A6E742A2BD0}"/>
              </a:ext>
            </a:extLst>
          </p:cNvPr>
          <p:cNvSpPr txBox="1"/>
          <p:nvPr/>
        </p:nvSpPr>
        <p:spPr>
          <a:xfrm>
            <a:off x="636639" y="698755"/>
            <a:ext cx="5389152" cy="184665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0" dirty="0">
                <a:solidFill>
                  <a:schemeClr val="bg1"/>
                </a:solidFill>
                <a:latin typeface="Glacial Indifference" pitchFamily="2" charset="0"/>
                <a:cs typeface="Poppins" pitchFamily="2" charset="77"/>
              </a:rPr>
              <a:t>Methodology</a:t>
            </a:r>
            <a:br>
              <a:rPr lang="en-US" sz="8000" dirty="0"/>
            </a:br>
            <a:endParaRPr lang="en-US" sz="6000" dirty="0">
              <a:solidFill>
                <a:schemeClr val="bg1"/>
              </a:solidFill>
              <a:latin typeface="Glacial Indifference" pitchFamily="2" charset="0"/>
              <a:ea typeface="Jost" pitchFamily="2" charset="0"/>
              <a:cs typeface="Poppins" pitchFamily="2" charset="77"/>
            </a:endParaRPr>
          </a:p>
        </p:txBody>
      </p:sp>
      <p:sp>
        <p:nvSpPr>
          <p:cNvPr id="4" name="TextBox 3">
            <a:extLst>
              <a:ext uri="{FF2B5EF4-FFF2-40B4-BE49-F238E27FC236}">
                <a16:creationId xmlns:a16="http://schemas.microsoft.com/office/drawing/2014/main" id="{AEB578BF-5126-4CFE-2C16-196717BCEB35}"/>
              </a:ext>
            </a:extLst>
          </p:cNvPr>
          <p:cNvSpPr txBox="1"/>
          <p:nvPr/>
        </p:nvSpPr>
        <p:spPr>
          <a:xfrm>
            <a:off x="636639" y="1951130"/>
            <a:ext cx="6209070" cy="2308324"/>
          </a:xfrm>
          <a:prstGeom prst="rect">
            <a:avLst/>
          </a:prstGeom>
          <a:noFill/>
        </p:spPr>
        <p:txBody>
          <a:bodyPr wrap="square">
            <a:spAutoFit/>
          </a:bodyPr>
          <a:lstStyle/>
          <a:p>
            <a:pPr>
              <a:buNone/>
            </a:pPr>
            <a:r>
              <a:rPr lang="en-US" b="1" dirty="0"/>
              <a:t>1. Dataset Description</a:t>
            </a:r>
          </a:p>
          <a:p>
            <a:pPr>
              <a:buFont typeface="Arial" panose="020B0604020202020204" pitchFamily="34" charset="0"/>
              <a:buChar char="•"/>
            </a:pPr>
            <a:r>
              <a:rPr lang="en-US" dirty="0"/>
              <a:t>Source: San Francisco Crime Data (2003–2015)</a:t>
            </a:r>
          </a:p>
          <a:p>
            <a:pPr>
              <a:buFont typeface="Arial" panose="020B0604020202020204" pitchFamily="34" charset="0"/>
              <a:buChar char="•"/>
            </a:pPr>
            <a:r>
              <a:rPr lang="en-US" dirty="0"/>
              <a:t>Total records: </a:t>
            </a:r>
            <a:r>
              <a:rPr lang="en-US" b="1" dirty="0"/>
              <a:t>878,049</a:t>
            </a:r>
            <a:r>
              <a:rPr lang="en-US" dirty="0"/>
              <a:t> → Sample used: </a:t>
            </a:r>
            <a:r>
              <a:rPr lang="en-US" b="1" dirty="0"/>
              <a:t>50,136</a:t>
            </a:r>
            <a:endParaRPr lang="en-US" dirty="0"/>
          </a:p>
          <a:p>
            <a:pPr>
              <a:buFont typeface="Arial" panose="020B0604020202020204" pitchFamily="34" charset="0"/>
              <a:buChar char="•"/>
            </a:pPr>
            <a:r>
              <a:rPr lang="en-US" dirty="0"/>
              <a:t>Train/Test Split: </a:t>
            </a:r>
            <a:r>
              <a:rPr lang="en-US" b="1" dirty="0"/>
              <a:t>80% / 20%</a:t>
            </a:r>
            <a:endParaRPr lang="en-US" dirty="0"/>
          </a:p>
          <a:p>
            <a:pPr>
              <a:buFont typeface="Arial" panose="020B0604020202020204" pitchFamily="34" charset="0"/>
              <a:buChar char="•"/>
            </a:pPr>
            <a:r>
              <a:rPr lang="en-US" dirty="0"/>
              <a:t>Crime categories: </a:t>
            </a:r>
            <a:r>
              <a:rPr lang="en-US" b="1" dirty="0"/>
              <a:t>38 types</a:t>
            </a:r>
            <a:endParaRPr lang="en-US" dirty="0"/>
          </a:p>
          <a:p>
            <a:pPr>
              <a:buFont typeface="Arial" panose="020B0604020202020204" pitchFamily="34" charset="0"/>
              <a:buChar char="•"/>
            </a:pPr>
            <a:r>
              <a:rPr lang="en-US" dirty="0"/>
              <a:t>Coverage: </a:t>
            </a:r>
            <a:r>
              <a:rPr lang="en-US" b="1" dirty="0"/>
              <a:t>10 police districts</a:t>
            </a:r>
            <a:r>
              <a:rPr lang="en-US" dirty="0"/>
              <a:t>, </a:t>
            </a:r>
            <a:r>
              <a:rPr lang="en-US" b="1" dirty="0"/>
              <a:t>12-year span</a:t>
            </a:r>
            <a:endParaRPr lang="en-US" dirty="0"/>
          </a:p>
          <a:p>
            <a:pPr>
              <a:buNone/>
            </a:pPr>
            <a:br>
              <a:rPr lang="en-US" dirty="0"/>
            </a:br>
            <a:endParaRPr lang="en-US" dirty="0"/>
          </a:p>
        </p:txBody>
      </p:sp>
      <p:sp>
        <p:nvSpPr>
          <p:cNvPr id="5" name="TextBox 4">
            <a:extLst>
              <a:ext uri="{FF2B5EF4-FFF2-40B4-BE49-F238E27FC236}">
                <a16:creationId xmlns:a16="http://schemas.microsoft.com/office/drawing/2014/main" id="{2C1D3897-EA83-2139-8D95-7186B5BA6760}"/>
              </a:ext>
            </a:extLst>
          </p:cNvPr>
          <p:cNvSpPr txBox="1"/>
          <p:nvPr/>
        </p:nvSpPr>
        <p:spPr>
          <a:xfrm>
            <a:off x="5712542" y="1724988"/>
            <a:ext cx="5506064" cy="5909310"/>
          </a:xfrm>
          <a:prstGeom prst="rect">
            <a:avLst/>
          </a:prstGeom>
          <a:noFill/>
        </p:spPr>
        <p:txBody>
          <a:bodyPr wrap="square" rtlCol="0">
            <a:spAutoFit/>
          </a:bodyPr>
          <a:lstStyle/>
          <a:p>
            <a:pPr>
              <a:buNone/>
            </a:pPr>
            <a:r>
              <a:rPr lang="en-US" b="1" dirty="0"/>
              <a:t>2. Data Preprocessing</a:t>
            </a:r>
          </a:p>
          <a:p>
            <a:pPr>
              <a:buNone/>
            </a:pPr>
            <a:r>
              <a:rPr lang="en-US" b="1" dirty="0"/>
              <a:t>A. Environment Configuration</a:t>
            </a:r>
          </a:p>
          <a:p>
            <a:pPr>
              <a:buFont typeface="Arial" panose="020B0604020202020204" pitchFamily="34" charset="0"/>
              <a:buChar char="•"/>
            </a:pPr>
            <a:r>
              <a:rPr lang="en-US" dirty="0"/>
              <a:t>Spark session optimized with:</a:t>
            </a:r>
          </a:p>
          <a:p>
            <a:pPr marL="742950" lvl="1" indent="-285750">
              <a:buFont typeface="Arial" panose="020B0604020202020204" pitchFamily="34" charset="0"/>
              <a:buChar char="•"/>
            </a:pPr>
            <a:r>
              <a:rPr lang="en-US" b="1" dirty="0"/>
              <a:t>2GB driver memory</a:t>
            </a:r>
            <a:endParaRPr lang="en-US" dirty="0"/>
          </a:p>
          <a:p>
            <a:pPr marL="742950" lvl="1" indent="-285750">
              <a:buFont typeface="Arial" panose="020B0604020202020204" pitchFamily="34" charset="0"/>
              <a:buChar char="•"/>
            </a:pPr>
            <a:r>
              <a:rPr lang="en-US" b="1" dirty="0"/>
              <a:t>8 shuffle partitions</a:t>
            </a:r>
            <a:endParaRPr lang="en-US" dirty="0"/>
          </a:p>
          <a:p>
            <a:pPr marL="742950" lvl="1" indent="-285750">
              <a:buFont typeface="Arial" panose="020B0604020202020204" pitchFamily="34" charset="0"/>
              <a:buChar char="•"/>
            </a:pPr>
            <a:r>
              <a:rPr lang="en-US" b="1" dirty="0"/>
              <a:t>Adaptive Query Execution</a:t>
            </a:r>
            <a:endParaRPr lang="en-US" dirty="0"/>
          </a:p>
          <a:p>
            <a:pPr marL="742950" lvl="1" indent="-285750">
              <a:buFont typeface="Arial" panose="020B0604020202020204" pitchFamily="34" charset="0"/>
              <a:buChar char="•"/>
            </a:pPr>
            <a:r>
              <a:rPr lang="en-US" b="1" dirty="0" err="1"/>
              <a:t>Kryo</a:t>
            </a:r>
            <a:r>
              <a:rPr lang="en-US" b="1" dirty="0"/>
              <a:t> serialization</a:t>
            </a:r>
            <a:r>
              <a:rPr lang="en-US" dirty="0"/>
              <a:t> for faster processing</a:t>
            </a:r>
          </a:p>
          <a:p>
            <a:pPr>
              <a:buNone/>
            </a:pPr>
            <a:r>
              <a:rPr lang="en-US" b="1" dirty="0"/>
              <a:t>B. Data Cleaning</a:t>
            </a:r>
          </a:p>
          <a:p>
            <a:pPr>
              <a:buFont typeface="Arial" panose="020B0604020202020204" pitchFamily="34" charset="0"/>
              <a:buChar char="•"/>
            </a:pPr>
            <a:r>
              <a:rPr lang="en-US" dirty="0"/>
              <a:t>Removed rows with missing key fields</a:t>
            </a:r>
          </a:p>
          <a:p>
            <a:pPr>
              <a:buFont typeface="Arial" panose="020B0604020202020204" pitchFamily="34" charset="0"/>
              <a:buChar char="•"/>
            </a:pPr>
            <a:r>
              <a:rPr lang="en-US" dirty="0"/>
              <a:t>Filtered out invalid geographic coordinates</a:t>
            </a:r>
          </a:p>
          <a:p>
            <a:pPr>
              <a:buFont typeface="Arial" panose="020B0604020202020204" pitchFamily="34" charset="0"/>
              <a:buChar char="•"/>
            </a:pPr>
            <a:r>
              <a:rPr lang="en-US" dirty="0"/>
              <a:t>~1–2% of data removed</a:t>
            </a:r>
          </a:p>
          <a:p>
            <a:pPr>
              <a:buNone/>
            </a:pPr>
            <a:r>
              <a:rPr lang="en-US" b="1" dirty="0"/>
              <a:t>C. Feature Engineering</a:t>
            </a:r>
          </a:p>
          <a:p>
            <a:pPr>
              <a:buFont typeface="Arial" panose="020B0604020202020204" pitchFamily="34" charset="0"/>
              <a:buChar char="•"/>
            </a:pPr>
            <a:r>
              <a:rPr lang="en-US" b="1" dirty="0"/>
              <a:t>Binary target variable</a:t>
            </a:r>
            <a:r>
              <a:rPr lang="en-US" dirty="0"/>
              <a:t>: Property crime vs. non-property crime</a:t>
            </a:r>
          </a:p>
          <a:p>
            <a:pPr>
              <a:buFont typeface="Arial" panose="020B0604020202020204" pitchFamily="34" charset="0"/>
              <a:buChar char="•"/>
            </a:pPr>
            <a:r>
              <a:rPr lang="en-US" b="1" dirty="0"/>
              <a:t>Temporal features</a:t>
            </a:r>
            <a:r>
              <a:rPr lang="en-US" dirty="0"/>
              <a:t>: Hour, month, weekday number, weekend/night/rush hour flags, cyclical encodings</a:t>
            </a:r>
          </a:p>
          <a:p>
            <a:pPr>
              <a:buFont typeface="Arial" panose="020B0604020202020204" pitchFamily="34" charset="0"/>
              <a:buChar char="•"/>
            </a:pPr>
            <a:r>
              <a:rPr lang="en-US" b="1" dirty="0"/>
              <a:t>Spatial features</a:t>
            </a:r>
            <a:r>
              <a:rPr lang="en-US" dirty="0"/>
              <a:t>: 50×50 grid location bins, normalized coordinates</a:t>
            </a:r>
          </a:p>
          <a:p>
            <a:pPr>
              <a:buNone/>
            </a:pPr>
            <a:br>
              <a:rPr lang="en-US" dirty="0"/>
            </a:br>
            <a:endParaRPr lang="en-US" dirty="0"/>
          </a:p>
          <a:p>
            <a:endParaRPr lang="en-US" dirty="0"/>
          </a:p>
        </p:txBody>
      </p:sp>
    </p:spTree>
    <p:extLst>
      <p:ext uri="{BB962C8B-B14F-4D97-AF65-F5344CB8AC3E}">
        <p14:creationId xmlns:p14="http://schemas.microsoft.com/office/powerpoint/2010/main" val="1536569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ED8783">
                <a:lumMod val="85000"/>
                <a:lumOff val="15000"/>
              </a:srgbClr>
            </a:gs>
            <a:gs pos="100000">
              <a:srgbClr val="097F8B">
                <a:lumMod val="98000"/>
                <a:lumOff val="2000"/>
              </a:srgbClr>
            </a:gs>
          </a:gsLst>
          <a:path path="circle">
            <a:fillToRect r="100000" b="100000"/>
          </a:path>
        </a:gradFill>
        <a:effectLst/>
      </p:bgPr>
    </p:bg>
    <p:spTree>
      <p:nvGrpSpPr>
        <p:cNvPr id="1" name="">
          <a:extLst>
            <a:ext uri="{FF2B5EF4-FFF2-40B4-BE49-F238E27FC236}">
              <a16:creationId xmlns:a16="http://schemas.microsoft.com/office/drawing/2014/main" id="{45629397-8BC8-EF0A-3CF3-411957C0784C}"/>
            </a:ext>
          </a:extLst>
        </p:cNvPr>
        <p:cNvGrpSpPr/>
        <p:nvPr/>
      </p:nvGrpSpPr>
      <p:grpSpPr>
        <a:xfrm>
          <a:off x="0" y="0"/>
          <a:ext cx="0" cy="0"/>
          <a:chOff x="0" y="0"/>
          <a:chExt cx="0" cy="0"/>
        </a:xfrm>
      </p:grpSpPr>
      <p:sp>
        <p:nvSpPr>
          <p:cNvPr id="12" name="TextBox 7">
            <a:extLst>
              <a:ext uri="{FF2B5EF4-FFF2-40B4-BE49-F238E27FC236}">
                <a16:creationId xmlns:a16="http://schemas.microsoft.com/office/drawing/2014/main" id="{A8DD0CC3-4387-8F20-00BC-465B74FEAFC5}"/>
              </a:ext>
            </a:extLst>
          </p:cNvPr>
          <p:cNvSpPr txBox="1"/>
          <p:nvPr/>
        </p:nvSpPr>
        <p:spPr>
          <a:xfrm>
            <a:off x="3833270" y="609758"/>
            <a:ext cx="5389152" cy="1846659"/>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0" dirty="0">
                <a:solidFill>
                  <a:schemeClr val="bg1"/>
                </a:solidFill>
                <a:latin typeface="Glacial Indifference" pitchFamily="2" charset="0"/>
                <a:cs typeface="Poppins" pitchFamily="2" charset="77"/>
              </a:rPr>
              <a:t>Methodology</a:t>
            </a:r>
            <a:br>
              <a:rPr lang="en-US" sz="8000" dirty="0"/>
            </a:br>
            <a:endParaRPr lang="en-US" sz="6000" dirty="0">
              <a:solidFill>
                <a:schemeClr val="bg1"/>
              </a:solidFill>
              <a:latin typeface="Glacial Indifference" pitchFamily="2" charset="0"/>
              <a:ea typeface="Jost" pitchFamily="2" charset="0"/>
              <a:cs typeface="Poppins" pitchFamily="2" charset="77"/>
            </a:endParaRPr>
          </a:p>
        </p:txBody>
      </p:sp>
      <p:sp>
        <p:nvSpPr>
          <p:cNvPr id="4" name="TextBox 3">
            <a:extLst>
              <a:ext uri="{FF2B5EF4-FFF2-40B4-BE49-F238E27FC236}">
                <a16:creationId xmlns:a16="http://schemas.microsoft.com/office/drawing/2014/main" id="{025DAD71-20B2-4A42-04C1-FA4665296530}"/>
              </a:ext>
            </a:extLst>
          </p:cNvPr>
          <p:cNvSpPr txBox="1"/>
          <p:nvPr/>
        </p:nvSpPr>
        <p:spPr>
          <a:xfrm>
            <a:off x="636639" y="2157607"/>
            <a:ext cx="6209070" cy="1754326"/>
          </a:xfrm>
          <a:prstGeom prst="rect">
            <a:avLst/>
          </a:prstGeom>
          <a:noFill/>
        </p:spPr>
        <p:txBody>
          <a:bodyPr wrap="square">
            <a:spAutoFit/>
          </a:bodyPr>
          <a:lstStyle/>
          <a:p>
            <a:pPr>
              <a:buNone/>
            </a:pPr>
            <a:r>
              <a:rPr lang="en-US" b="1" dirty="0"/>
              <a:t>3. Machine Learning Models</a:t>
            </a:r>
          </a:p>
          <a:p>
            <a:pPr>
              <a:buFont typeface="Arial" panose="020B0604020202020204" pitchFamily="34" charset="0"/>
              <a:buChar char="•"/>
            </a:pPr>
            <a:r>
              <a:rPr lang="en-US" b="1" dirty="0"/>
              <a:t>Random Forest</a:t>
            </a:r>
            <a:r>
              <a:rPr lang="en-US" dirty="0"/>
              <a:t>: 200 trees, depth 20</a:t>
            </a:r>
          </a:p>
          <a:p>
            <a:pPr>
              <a:buFont typeface="Arial" panose="020B0604020202020204" pitchFamily="34" charset="0"/>
              <a:buChar char="•"/>
            </a:pPr>
            <a:r>
              <a:rPr lang="en-US" b="1" dirty="0"/>
              <a:t>Gradient Boosted Trees</a:t>
            </a:r>
            <a:r>
              <a:rPr lang="en-US" dirty="0"/>
              <a:t>: 30 iterations, depth 8, LR=0.15</a:t>
            </a:r>
          </a:p>
          <a:p>
            <a:pPr>
              <a:buFont typeface="Arial" panose="020B0604020202020204" pitchFamily="34" charset="0"/>
              <a:buChar char="•"/>
            </a:pPr>
            <a:r>
              <a:rPr lang="en-US" b="1" dirty="0"/>
              <a:t>Logistic Regression</a:t>
            </a:r>
            <a:r>
              <a:rPr lang="en-US" dirty="0"/>
              <a:t>: 200 iterations, regularization=0.001</a:t>
            </a:r>
          </a:p>
          <a:p>
            <a:pPr>
              <a:buNone/>
            </a:pPr>
            <a:br>
              <a:rPr lang="en-US" dirty="0"/>
            </a:br>
            <a:endParaRPr lang="en-US" dirty="0"/>
          </a:p>
        </p:txBody>
      </p:sp>
      <p:sp>
        <p:nvSpPr>
          <p:cNvPr id="5" name="TextBox 4">
            <a:extLst>
              <a:ext uri="{FF2B5EF4-FFF2-40B4-BE49-F238E27FC236}">
                <a16:creationId xmlns:a16="http://schemas.microsoft.com/office/drawing/2014/main" id="{0FF2976C-57DB-DACC-798A-B24013A9B3EF}"/>
              </a:ext>
            </a:extLst>
          </p:cNvPr>
          <p:cNvSpPr txBox="1"/>
          <p:nvPr/>
        </p:nvSpPr>
        <p:spPr>
          <a:xfrm>
            <a:off x="636639" y="3705456"/>
            <a:ext cx="5506064" cy="1754326"/>
          </a:xfrm>
          <a:prstGeom prst="rect">
            <a:avLst/>
          </a:prstGeom>
          <a:noFill/>
        </p:spPr>
        <p:txBody>
          <a:bodyPr wrap="square" rtlCol="0">
            <a:spAutoFit/>
          </a:bodyPr>
          <a:lstStyle/>
          <a:p>
            <a:pPr>
              <a:buNone/>
            </a:pPr>
            <a:r>
              <a:rPr lang="en-US" b="1" dirty="0"/>
              <a:t>4. Dashboard Development</a:t>
            </a:r>
          </a:p>
          <a:p>
            <a:pPr>
              <a:buFont typeface="Arial" panose="020B0604020202020204" pitchFamily="34" charset="0"/>
              <a:buChar char="•"/>
            </a:pPr>
            <a:r>
              <a:rPr lang="en-US" dirty="0"/>
              <a:t>Built using </a:t>
            </a:r>
            <a:r>
              <a:rPr lang="en-US" b="1" dirty="0"/>
              <a:t>HTML5, CSS3 (</a:t>
            </a:r>
            <a:r>
              <a:rPr lang="en-US" b="1" dirty="0" err="1"/>
              <a:t>Glassmorphism</a:t>
            </a:r>
            <a:r>
              <a:rPr lang="en-US" b="1" dirty="0"/>
              <a:t>), JavaScript</a:t>
            </a:r>
            <a:endParaRPr lang="en-US" dirty="0"/>
          </a:p>
          <a:p>
            <a:pPr>
              <a:buFont typeface="Arial" panose="020B0604020202020204" pitchFamily="34" charset="0"/>
              <a:buChar char="•"/>
            </a:pPr>
            <a:r>
              <a:rPr lang="en-US" dirty="0"/>
              <a:t>Visualizations with </a:t>
            </a:r>
            <a:r>
              <a:rPr lang="en-US" b="1" dirty="0"/>
              <a:t>Chart.js</a:t>
            </a:r>
            <a:endParaRPr lang="en-US" dirty="0"/>
          </a:p>
          <a:p>
            <a:pPr>
              <a:buFont typeface="Arial" panose="020B0604020202020204" pitchFamily="34" charset="0"/>
              <a:buChar char="•"/>
            </a:pPr>
            <a:r>
              <a:rPr lang="en-US" dirty="0"/>
              <a:t>Crime heat maps created using </a:t>
            </a:r>
            <a:r>
              <a:rPr lang="en-US" b="1" dirty="0"/>
              <a:t>Folium</a:t>
            </a:r>
            <a:endParaRPr lang="en-US" dirty="0"/>
          </a:p>
          <a:p>
            <a:pPr>
              <a:buFont typeface="Arial" panose="020B0604020202020204" pitchFamily="34" charset="0"/>
              <a:buChar char="•"/>
            </a:pPr>
            <a:r>
              <a:rPr lang="en-US" dirty="0"/>
              <a:t>Dashboard sections: </a:t>
            </a:r>
            <a:r>
              <a:rPr lang="en-US" b="1" dirty="0"/>
              <a:t>Overview, Models, Charts, Heat Map, Insights, Predict</a:t>
            </a:r>
            <a:endParaRPr lang="en-US" dirty="0"/>
          </a:p>
        </p:txBody>
      </p:sp>
    </p:spTree>
    <p:extLst>
      <p:ext uri="{BB962C8B-B14F-4D97-AF65-F5344CB8AC3E}">
        <p14:creationId xmlns:p14="http://schemas.microsoft.com/office/powerpoint/2010/main" val="3745298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81F91F96-4AB6-764A-8742-19902760E750}"/>
              </a:ext>
            </a:extLst>
          </p:cNvPr>
          <p:cNvSpPr txBox="1"/>
          <p:nvPr/>
        </p:nvSpPr>
        <p:spPr>
          <a:xfrm>
            <a:off x="309459" y="856130"/>
            <a:ext cx="7386076"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Glacial Indifference" pitchFamily="2" charset="0"/>
                <a:cs typeface="Poppins" pitchFamily="2" charset="77"/>
              </a:rPr>
              <a:t>Results and Discussions</a:t>
            </a:r>
            <a:endParaRPr lang="en-US" sz="4000" dirty="0">
              <a:latin typeface="Glacial Indifference" pitchFamily="2" charset="0"/>
              <a:ea typeface="Jost" pitchFamily="2" charset="0"/>
              <a:cs typeface="Poppins" pitchFamily="2" charset="77"/>
            </a:endParaRPr>
          </a:p>
        </p:txBody>
      </p:sp>
      <p:pic>
        <p:nvPicPr>
          <p:cNvPr id="5" name="Image 5">
            <a:extLst>
              <a:ext uri="{FF2B5EF4-FFF2-40B4-BE49-F238E27FC236}">
                <a16:creationId xmlns:a16="http://schemas.microsoft.com/office/drawing/2014/main" id="{73B9038C-4892-DD2D-B96A-ACD9F27AC066}"/>
              </a:ext>
            </a:extLst>
          </p:cNvPr>
          <p:cNvPicPr>
            <a:picLocks/>
          </p:cNvPicPr>
          <p:nvPr/>
        </p:nvPicPr>
        <p:blipFill>
          <a:blip r:embed="rId2" cstate="print"/>
          <a:stretch>
            <a:fillRect/>
          </a:stretch>
        </p:blipFill>
        <p:spPr>
          <a:xfrm>
            <a:off x="309459" y="1697713"/>
            <a:ext cx="5422747" cy="4526106"/>
          </a:xfrm>
          <a:prstGeom prst="rect">
            <a:avLst/>
          </a:prstGeom>
        </p:spPr>
      </p:pic>
      <p:sp>
        <p:nvSpPr>
          <p:cNvPr id="6" name="TextBox 5">
            <a:extLst>
              <a:ext uri="{FF2B5EF4-FFF2-40B4-BE49-F238E27FC236}">
                <a16:creationId xmlns:a16="http://schemas.microsoft.com/office/drawing/2014/main" id="{C13F8CA1-4786-CFD0-625B-3BEF0AAB8415}"/>
              </a:ext>
            </a:extLst>
          </p:cNvPr>
          <p:cNvSpPr txBox="1"/>
          <p:nvPr/>
        </p:nvSpPr>
        <p:spPr>
          <a:xfrm>
            <a:off x="530942" y="6331974"/>
            <a:ext cx="4778477" cy="369332"/>
          </a:xfrm>
          <a:prstGeom prst="rect">
            <a:avLst/>
          </a:prstGeom>
          <a:noFill/>
        </p:spPr>
        <p:txBody>
          <a:bodyPr wrap="square" rtlCol="0">
            <a:spAutoFit/>
          </a:bodyPr>
          <a:lstStyle/>
          <a:p>
            <a:r>
              <a:rPr lang="en-US" dirty="0"/>
              <a:t>Models Analysis Report</a:t>
            </a:r>
          </a:p>
        </p:txBody>
      </p:sp>
      <p:pic>
        <p:nvPicPr>
          <p:cNvPr id="8" name="Image 6">
            <a:extLst>
              <a:ext uri="{FF2B5EF4-FFF2-40B4-BE49-F238E27FC236}">
                <a16:creationId xmlns:a16="http://schemas.microsoft.com/office/drawing/2014/main" id="{CCB88C73-0535-E856-1E04-73CF9027F847}"/>
              </a:ext>
            </a:extLst>
          </p:cNvPr>
          <p:cNvPicPr>
            <a:picLocks/>
          </p:cNvPicPr>
          <p:nvPr/>
        </p:nvPicPr>
        <p:blipFill>
          <a:blip r:embed="rId3" cstate="print"/>
          <a:stretch>
            <a:fillRect/>
          </a:stretch>
        </p:blipFill>
        <p:spPr>
          <a:xfrm>
            <a:off x="5874733" y="1525761"/>
            <a:ext cx="5869940" cy="4698058"/>
          </a:xfrm>
          <a:prstGeom prst="rect">
            <a:avLst/>
          </a:prstGeom>
        </p:spPr>
      </p:pic>
    </p:spTree>
    <p:extLst>
      <p:ext uri="{BB962C8B-B14F-4D97-AF65-F5344CB8AC3E}">
        <p14:creationId xmlns:p14="http://schemas.microsoft.com/office/powerpoint/2010/main" val="1886371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9034-963D-6A8C-04DA-B0BEEB5B78C0}"/>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6530AF3E-1983-475C-86FD-56BB4D2D6B7E}"/>
              </a:ext>
            </a:extLst>
          </p:cNvPr>
          <p:cNvSpPr txBox="1"/>
          <p:nvPr/>
        </p:nvSpPr>
        <p:spPr>
          <a:xfrm>
            <a:off x="460066" y="859176"/>
            <a:ext cx="7386076" cy="61555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latin typeface="Glacial Indifference" pitchFamily="2" charset="0"/>
                <a:cs typeface="Poppins" pitchFamily="2" charset="77"/>
              </a:rPr>
              <a:t>Results and Discussions</a:t>
            </a:r>
            <a:endParaRPr lang="en-US" sz="4000" dirty="0">
              <a:latin typeface="Glacial Indifference" pitchFamily="2" charset="0"/>
              <a:ea typeface="Jost" pitchFamily="2" charset="0"/>
              <a:cs typeface="Poppins" pitchFamily="2" charset="77"/>
            </a:endParaRPr>
          </a:p>
        </p:txBody>
      </p:sp>
      <p:pic>
        <p:nvPicPr>
          <p:cNvPr id="3" name="Image 7">
            <a:extLst>
              <a:ext uri="{FF2B5EF4-FFF2-40B4-BE49-F238E27FC236}">
                <a16:creationId xmlns:a16="http://schemas.microsoft.com/office/drawing/2014/main" id="{043C4CC7-F6A0-5C44-0A03-7A906FBA27AE}"/>
              </a:ext>
            </a:extLst>
          </p:cNvPr>
          <p:cNvPicPr>
            <a:picLocks/>
          </p:cNvPicPr>
          <p:nvPr/>
        </p:nvPicPr>
        <p:blipFill>
          <a:blip r:embed="rId2" cstate="print"/>
          <a:stretch>
            <a:fillRect/>
          </a:stretch>
        </p:blipFill>
        <p:spPr>
          <a:xfrm>
            <a:off x="605913" y="1759472"/>
            <a:ext cx="4664177" cy="4100554"/>
          </a:xfrm>
          <a:prstGeom prst="rect">
            <a:avLst/>
          </a:prstGeom>
        </p:spPr>
      </p:pic>
      <p:pic>
        <p:nvPicPr>
          <p:cNvPr id="4" name="Image 8">
            <a:extLst>
              <a:ext uri="{FF2B5EF4-FFF2-40B4-BE49-F238E27FC236}">
                <a16:creationId xmlns:a16="http://schemas.microsoft.com/office/drawing/2014/main" id="{F42DA10A-81F5-9E17-BA69-86CA0E12A231}"/>
              </a:ext>
            </a:extLst>
          </p:cNvPr>
          <p:cNvPicPr>
            <a:picLocks/>
          </p:cNvPicPr>
          <p:nvPr/>
        </p:nvPicPr>
        <p:blipFill>
          <a:blip r:embed="rId3" cstate="print"/>
          <a:stretch>
            <a:fillRect/>
          </a:stretch>
        </p:blipFill>
        <p:spPr>
          <a:xfrm>
            <a:off x="5706622" y="1588996"/>
            <a:ext cx="5879465" cy="2088269"/>
          </a:xfrm>
          <a:prstGeom prst="rect">
            <a:avLst/>
          </a:prstGeom>
        </p:spPr>
      </p:pic>
      <p:pic>
        <p:nvPicPr>
          <p:cNvPr id="7" name="Image 9">
            <a:extLst>
              <a:ext uri="{FF2B5EF4-FFF2-40B4-BE49-F238E27FC236}">
                <a16:creationId xmlns:a16="http://schemas.microsoft.com/office/drawing/2014/main" id="{7DA16F08-57B5-F817-BF49-084DA16D9AF7}"/>
              </a:ext>
            </a:extLst>
          </p:cNvPr>
          <p:cNvPicPr>
            <a:picLocks/>
          </p:cNvPicPr>
          <p:nvPr/>
        </p:nvPicPr>
        <p:blipFill>
          <a:blip r:embed="rId4" cstate="print"/>
          <a:stretch>
            <a:fillRect/>
          </a:stretch>
        </p:blipFill>
        <p:spPr>
          <a:xfrm>
            <a:off x="5706622" y="3905798"/>
            <a:ext cx="5881370" cy="2656205"/>
          </a:xfrm>
          <a:prstGeom prst="rect">
            <a:avLst/>
          </a:prstGeom>
        </p:spPr>
      </p:pic>
    </p:spTree>
    <p:extLst>
      <p:ext uri="{BB962C8B-B14F-4D97-AF65-F5344CB8AC3E}">
        <p14:creationId xmlns:p14="http://schemas.microsoft.com/office/powerpoint/2010/main" val="1276280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93EAAD04-F202-604D-8F33-BB3AB0570DB2}"/>
              </a:ext>
            </a:extLst>
          </p:cNvPr>
          <p:cNvSpPr txBox="1"/>
          <p:nvPr/>
        </p:nvSpPr>
        <p:spPr>
          <a:xfrm>
            <a:off x="2443181" y="1346123"/>
            <a:ext cx="6696039" cy="123110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dirty="0">
                <a:latin typeface="Times New Roman" panose="02020603050405020304" pitchFamily="18" charset="0"/>
                <a:cs typeface="Times New Roman" panose="02020603050405020304" pitchFamily="18" charset="0"/>
              </a:rPr>
              <a:t>Conclusion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ea typeface="Jost" pitchFamily="2" charset="0"/>
              <a:cs typeface="Times New Roman" panose="02020603050405020304" pitchFamily="18" charset="0"/>
            </a:endParaRPr>
          </a:p>
        </p:txBody>
      </p:sp>
      <p:sp>
        <p:nvSpPr>
          <p:cNvPr id="11" name="TextBox 10">
            <a:extLst>
              <a:ext uri="{FF2B5EF4-FFF2-40B4-BE49-F238E27FC236}">
                <a16:creationId xmlns:a16="http://schemas.microsoft.com/office/drawing/2014/main" id="{3D5B020D-5A60-F223-203E-9042C4989AE1}"/>
              </a:ext>
            </a:extLst>
          </p:cNvPr>
          <p:cNvSpPr txBox="1"/>
          <p:nvPr/>
        </p:nvSpPr>
        <p:spPr>
          <a:xfrm>
            <a:off x="449826" y="2577229"/>
            <a:ext cx="5547851" cy="3416320"/>
          </a:xfrm>
          <a:prstGeom prst="rect">
            <a:avLst/>
          </a:prstGeom>
          <a:noFill/>
        </p:spPr>
        <p:txBody>
          <a:bodyPr wrap="square">
            <a:spAutoFit/>
          </a:bodyPr>
          <a:lstStyle/>
          <a:p>
            <a:pPr>
              <a:buNone/>
            </a:pPr>
            <a:r>
              <a:rPr lang="en-US" b="1" dirty="0"/>
              <a:t>Project Outcomes</a:t>
            </a:r>
          </a:p>
          <a:p>
            <a:pPr>
              <a:buFont typeface="Arial" panose="020B0604020202020204" pitchFamily="34" charset="0"/>
              <a:buChar char="•"/>
            </a:pPr>
            <a:r>
              <a:rPr lang="en-US" dirty="0"/>
              <a:t>Achieved </a:t>
            </a:r>
            <a:r>
              <a:rPr lang="en-US" b="1" dirty="0"/>
              <a:t>99.14% prediction accuracy</a:t>
            </a:r>
            <a:r>
              <a:rPr lang="en-US" dirty="0"/>
              <a:t> using Gradient Boosted Trees.</a:t>
            </a:r>
          </a:p>
          <a:p>
            <a:pPr>
              <a:buFont typeface="Arial" panose="020B0604020202020204" pitchFamily="34" charset="0"/>
              <a:buChar char="•"/>
            </a:pPr>
            <a:r>
              <a:rPr lang="en-US" dirty="0"/>
              <a:t>Processed </a:t>
            </a:r>
            <a:r>
              <a:rPr lang="en-US" b="1" dirty="0"/>
              <a:t>878K+ crime records</a:t>
            </a:r>
            <a:r>
              <a:rPr lang="en-US" dirty="0"/>
              <a:t> efficiently using </a:t>
            </a:r>
            <a:r>
              <a:rPr lang="en-US" dirty="0" err="1"/>
              <a:t>PySpark</a:t>
            </a:r>
            <a:r>
              <a:rPr lang="en-US" dirty="0"/>
              <a:t>.</a:t>
            </a:r>
          </a:p>
          <a:p>
            <a:pPr>
              <a:buFont typeface="Arial" panose="020B0604020202020204" pitchFamily="34" charset="0"/>
              <a:buChar char="•"/>
            </a:pPr>
            <a:r>
              <a:rPr lang="en-US" dirty="0"/>
              <a:t>Engineered </a:t>
            </a:r>
            <a:r>
              <a:rPr lang="en-US" b="1" dirty="0"/>
              <a:t>19 strong features</a:t>
            </a:r>
            <a:r>
              <a:rPr lang="en-US" dirty="0"/>
              <a:t> (temporal, spatial, categorical).</a:t>
            </a:r>
          </a:p>
          <a:p>
            <a:pPr>
              <a:buFont typeface="Arial" panose="020B0604020202020204" pitchFamily="34" charset="0"/>
              <a:buChar char="•"/>
            </a:pPr>
            <a:r>
              <a:rPr lang="en-US" dirty="0"/>
              <a:t>Built </a:t>
            </a:r>
            <a:r>
              <a:rPr lang="en-US" b="1" dirty="0"/>
              <a:t>interactive heat maps</a:t>
            </a:r>
            <a:r>
              <a:rPr lang="en-US" dirty="0"/>
              <a:t> and a complete analytics dashboard.</a:t>
            </a:r>
          </a:p>
          <a:p>
            <a:pPr>
              <a:buFont typeface="Arial" panose="020B0604020202020204" pitchFamily="34" charset="0"/>
              <a:buChar char="•"/>
            </a:pPr>
            <a:r>
              <a:rPr lang="en-US" dirty="0"/>
              <a:t>Compared three ML models to identify the best-performing approach.</a:t>
            </a:r>
          </a:p>
          <a:p>
            <a:pPr>
              <a:buNone/>
            </a:pPr>
            <a:br>
              <a:rPr lang="en-US" dirty="0"/>
            </a:br>
            <a:endParaRPr lang="en-US" dirty="0"/>
          </a:p>
        </p:txBody>
      </p:sp>
      <p:sp>
        <p:nvSpPr>
          <p:cNvPr id="18" name="TextBox 17">
            <a:extLst>
              <a:ext uri="{FF2B5EF4-FFF2-40B4-BE49-F238E27FC236}">
                <a16:creationId xmlns:a16="http://schemas.microsoft.com/office/drawing/2014/main" id="{E9EEAFB4-7FB0-EC2C-8324-8CF81F1337BD}"/>
              </a:ext>
            </a:extLst>
          </p:cNvPr>
          <p:cNvSpPr txBox="1"/>
          <p:nvPr/>
        </p:nvSpPr>
        <p:spPr>
          <a:xfrm>
            <a:off x="6270523" y="2587342"/>
            <a:ext cx="6209070" cy="2585323"/>
          </a:xfrm>
          <a:prstGeom prst="rect">
            <a:avLst/>
          </a:prstGeom>
          <a:noFill/>
        </p:spPr>
        <p:txBody>
          <a:bodyPr wrap="square">
            <a:spAutoFit/>
          </a:bodyPr>
          <a:lstStyle/>
          <a:p>
            <a:pPr>
              <a:buNone/>
            </a:pPr>
            <a:r>
              <a:rPr lang="en-US" b="1" dirty="0"/>
              <a:t>Recommendations for Law Enforcement</a:t>
            </a:r>
          </a:p>
          <a:p>
            <a:pPr>
              <a:buFont typeface="Arial" panose="020B0604020202020204" pitchFamily="34" charset="0"/>
              <a:buChar char="•"/>
            </a:pPr>
            <a:r>
              <a:rPr lang="en-US" dirty="0"/>
              <a:t>Increase patrol presence in </a:t>
            </a:r>
            <a:r>
              <a:rPr lang="en-US" b="1" dirty="0"/>
              <a:t>Southern and Mission districts</a:t>
            </a:r>
            <a:r>
              <a:rPr lang="en-US" dirty="0"/>
              <a:t> during 2 PM–8 PM.</a:t>
            </a:r>
          </a:p>
          <a:p>
            <a:pPr>
              <a:buFont typeface="Arial" panose="020B0604020202020204" pitchFamily="34" charset="0"/>
              <a:buChar char="•"/>
            </a:pPr>
            <a:r>
              <a:rPr lang="en-US" dirty="0"/>
              <a:t>Implement </a:t>
            </a:r>
            <a:r>
              <a:rPr lang="en-US" b="1" dirty="0"/>
              <a:t>vehicle-theft prevention measures</a:t>
            </a:r>
            <a:r>
              <a:rPr lang="en-US" dirty="0"/>
              <a:t> in vulnerable areas.</a:t>
            </a:r>
          </a:p>
          <a:p>
            <a:pPr>
              <a:buFont typeface="Arial" panose="020B0604020202020204" pitchFamily="34" charset="0"/>
              <a:buChar char="•"/>
            </a:pPr>
            <a:r>
              <a:rPr lang="en-US" dirty="0"/>
              <a:t>Use the heat map for </a:t>
            </a:r>
            <a:r>
              <a:rPr lang="en-US" b="1" dirty="0"/>
              <a:t>daily patrol route planning</a:t>
            </a:r>
            <a:r>
              <a:rPr lang="en-US" dirty="0"/>
              <a:t>.</a:t>
            </a:r>
          </a:p>
          <a:p>
            <a:pPr>
              <a:buFont typeface="Arial" panose="020B0604020202020204" pitchFamily="34" charset="0"/>
              <a:buChar char="•"/>
            </a:pPr>
            <a:r>
              <a:rPr lang="en-US" dirty="0"/>
              <a:t>Treat </a:t>
            </a:r>
            <a:r>
              <a:rPr lang="en-US" b="1" dirty="0"/>
              <a:t>Friday evenings</a:t>
            </a:r>
            <a:r>
              <a:rPr lang="en-US" dirty="0"/>
              <a:t> as high-risk periods.</a:t>
            </a:r>
          </a:p>
          <a:p>
            <a:pPr>
              <a:buFont typeface="Arial" panose="020B0604020202020204" pitchFamily="34" charset="0"/>
              <a:buChar char="•"/>
            </a:pPr>
            <a:r>
              <a:rPr lang="en-US" dirty="0"/>
              <a:t>Integrate the predictive model into </a:t>
            </a:r>
            <a:r>
              <a:rPr lang="en-US" b="1" dirty="0"/>
              <a:t>dispatch and patrol systems</a:t>
            </a:r>
            <a:r>
              <a:rPr lang="en-US" dirty="0"/>
              <a:t>.</a:t>
            </a:r>
          </a:p>
        </p:txBody>
      </p:sp>
      <p:cxnSp>
        <p:nvCxnSpPr>
          <p:cNvPr id="20" name="Straight Connector 19">
            <a:extLst>
              <a:ext uri="{FF2B5EF4-FFF2-40B4-BE49-F238E27FC236}">
                <a16:creationId xmlns:a16="http://schemas.microsoft.com/office/drawing/2014/main" id="{5BEE318D-0017-F1FB-1957-C4AFB0441D93}"/>
              </a:ext>
            </a:extLst>
          </p:cNvPr>
          <p:cNvCxnSpPr/>
          <p:nvPr/>
        </p:nvCxnSpPr>
        <p:spPr>
          <a:xfrm>
            <a:off x="6174658" y="2054942"/>
            <a:ext cx="0" cy="443434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49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8DAF0C98-CE0D-B942-95CA-965CFB20018E}"/>
              </a:ext>
            </a:extLst>
          </p:cNvPr>
          <p:cNvSpPr txBox="1"/>
          <p:nvPr/>
        </p:nvSpPr>
        <p:spPr>
          <a:xfrm>
            <a:off x="533190" y="730385"/>
            <a:ext cx="5562810" cy="92333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0" dirty="0">
                <a:latin typeface="Glacial Indifference" pitchFamily="2" charset="0"/>
                <a:cs typeface="Poppins" pitchFamily="2" charset="77"/>
              </a:rPr>
              <a:t>References</a:t>
            </a:r>
            <a:endParaRPr lang="en-US" sz="6000" dirty="0">
              <a:latin typeface="Glacial Indifference" pitchFamily="2" charset="0"/>
              <a:ea typeface="Jost" pitchFamily="2" charset="0"/>
              <a:cs typeface="Poppins" pitchFamily="2" charset="77"/>
            </a:endParaRPr>
          </a:p>
        </p:txBody>
      </p:sp>
      <p:sp>
        <p:nvSpPr>
          <p:cNvPr id="3" name="TextBox 2">
            <a:extLst>
              <a:ext uri="{FF2B5EF4-FFF2-40B4-BE49-F238E27FC236}">
                <a16:creationId xmlns:a16="http://schemas.microsoft.com/office/drawing/2014/main" id="{567E52E5-2A92-904F-B050-00F3766C51AA}"/>
              </a:ext>
            </a:extLst>
          </p:cNvPr>
          <p:cNvSpPr txBox="1"/>
          <p:nvPr/>
        </p:nvSpPr>
        <p:spPr>
          <a:xfrm>
            <a:off x="310841" y="1653715"/>
            <a:ext cx="11334344" cy="3597395"/>
          </a:xfrm>
          <a:prstGeom prst="rect">
            <a:avLst/>
          </a:prstGeom>
          <a:noFill/>
        </p:spPr>
        <p:txBody>
          <a:bodyPr wrap="square">
            <a:spAutoFit/>
          </a:bodyPr>
          <a:lstStyle/>
          <a:p>
            <a:pPr marL="342900" marR="93345" lvl="0" indent="-342900">
              <a:lnSpc>
                <a:spcPct val="150000"/>
              </a:lnSpc>
              <a:buSzPts val="1200"/>
              <a:buFont typeface="Times New Roman" panose="02020603050405020304" pitchFamily="18" charset="0"/>
              <a:buAutoNum type="arabicPeriod"/>
              <a:tabLst>
                <a:tab pos="670560" algn="l"/>
              </a:tabLst>
            </a:pPr>
            <a:r>
              <a:rPr lang="en-US" sz="1800" spc="0" dirty="0">
                <a:effectLst/>
                <a:latin typeface="Times New Roman" panose="02020603050405020304" pitchFamily="18" charset="0"/>
                <a:ea typeface="Times New Roman" panose="02020603050405020304" pitchFamily="18" charset="0"/>
              </a:rPr>
              <a:t>Chainey, S., Tompson, L., &amp;</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Uhlig, S. (2008).</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The utility</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of</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hotspot mapping for predicting spatial patterns of crime. Security Journal, 21(1-2), 4-28.</a:t>
            </a:r>
            <a:endParaRPr lang="en-US" sz="1600" spc="0" dirty="0">
              <a:effectLst/>
              <a:latin typeface="Times New Roman" panose="02020603050405020304" pitchFamily="18" charset="0"/>
              <a:ea typeface="Times New Roman" panose="02020603050405020304" pitchFamily="18" charset="0"/>
            </a:endParaRPr>
          </a:p>
          <a:p>
            <a:pPr marL="342900" marR="88900" lvl="0" indent="-342900">
              <a:lnSpc>
                <a:spcPct val="150000"/>
              </a:lnSpc>
              <a:spcBef>
                <a:spcPts val="595"/>
              </a:spcBef>
              <a:buSzPts val="1200"/>
              <a:buFont typeface="Times New Roman" panose="02020603050405020304" pitchFamily="18" charset="0"/>
              <a:buAutoNum type="arabicPeriod"/>
              <a:tabLst>
                <a:tab pos="658495" algn="l"/>
              </a:tabLst>
            </a:pPr>
            <a:r>
              <a:rPr lang="en-US" sz="1800" spc="0" dirty="0">
                <a:effectLst/>
                <a:latin typeface="Times New Roman" panose="02020603050405020304" pitchFamily="18" charset="0"/>
                <a:ea typeface="Times New Roman" panose="02020603050405020304" pitchFamily="18" charset="0"/>
              </a:rPr>
              <a:t>Mohler,</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G.</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O.,</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Short,</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B.,</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Brantingham,</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P.</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J.,</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Schoenberg,</a:t>
            </a:r>
            <a:r>
              <a:rPr lang="en-US" sz="1800" spc="-6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F.</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P.,</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&amp;</a:t>
            </a:r>
            <a:r>
              <a:rPr lang="en-US" sz="1800" spc="-8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Tita,</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G.</a:t>
            </a:r>
            <a:r>
              <a:rPr lang="en-US" sz="1800" spc="-8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E.</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(2011).</a:t>
            </a:r>
            <a:r>
              <a:rPr lang="en-US" sz="1800" spc="-6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Self-exciting point process modeling of crime. Journal of the American Statistical Association, 106(493), 100-108.</a:t>
            </a:r>
            <a:endParaRPr lang="en-US" sz="1600" spc="0" dirty="0">
              <a:effectLst/>
              <a:latin typeface="Times New Roman" panose="02020603050405020304" pitchFamily="18" charset="0"/>
              <a:ea typeface="Times New Roman" panose="02020603050405020304" pitchFamily="18" charset="0"/>
            </a:endParaRPr>
          </a:p>
          <a:p>
            <a:pPr marL="342900" marR="95250" lvl="0" indent="-342900">
              <a:lnSpc>
                <a:spcPct val="150000"/>
              </a:lnSpc>
              <a:spcBef>
                <a:spcPts val="585"/>
              </a:spcBef>
              <a:buSzPts val="1200"/>
              <a:buFont typeface="Times New Roman" panose="02020603050405020304" pitchFamily="18" charset="0"/>
              <a:buAutoNum type="arabicPeriod"/>
              <a:tabLst>
                <a:tab pos="661670" algn="l"/>
              </a:tabLst>
            </a:pPr>
            <a:r>
              <a:rPr lang="en-US" sz="1800" spc="0" dirty="0">
                <a:effectLst/>
                <a:latin typeface="Times New Roman" panose="02020603050405020304" pitchFamily="18" charset="0"/>
                <a:ea typeface="Times New Roman" panose="02020603050405020304" pitchFamily="18" charset="0"/>
              </a:rPr>
              <a:t>Wang,</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Rudin,</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Wagner,</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D.,</a:t>
            </a:r>
            <a:r>
              <a:rPr lang="en-US" sz="1800" spc="-6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&amp;</a:t>
            </a:r>
            <a:r>
              <a:rPr lang="en-US" sz="1800" spc="-75" dirty="0">
                <a:effectLst/>
                <a:latin typeface="Times New Roman" panose="02020603050405020304" pitchFamily="18" charset="0"/>
                <a:ea typeface="Times New Roman" panose="02020603050405020304" pitchFamily="18" charset="0"/>
              </a:rPr>
              <a:t> </a:t>
            </a:r>
            <a:r>
              <a:rPr lang="en-US" sz="1800" spc="0" dirty="0" err="1">
                <a:effectLst/>
                <a:latin typeface="Times New Roman" panose="02020603050405020304" pitchFamily="18" charset="0"/>
                <a:ea typeface="Times New Roman" panose="02020603050405020304" pitchFamily="18" charset="0"/>
              </a:rPr>
              <a:t>Sevieri</a:t>
            </a:r>
            <a:r>
              <a:rPr lang="en-US" sz="1800" spc="0" dirty="0">
                <a:effectLst/>
                <a:latin typeface="Times New Roman" panose="02020603050405020304" pitchFamily="18" charset="0"/>
                <a:ea typeface="Times New Roman" panose="02020603050405020304" pitchFamily="18" charset="0"/>
              </a:rPr>
              <a:t>,</a:t>
            </a:r>
            <a:r>
              <a:rPr lang="en-US" sz="1800" spc="-6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R.</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(2013).</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Learning</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to</a:t>
            </a:r>
            <a:r>
              <a:rPr lang="en-US" sz="1800" spc="-7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detect</a:t>
            </a:r>
            <a:r>
              <a:rPr lang="en-US" sz="1800" spc="-5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patterns</a:t>
            </a:r>
            <a:r>
              <a:rPr lang="en-US" sz="1800" spc="-7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of</a:t>
            </a:r>
            <a:r>
              <a:rPr lang="en-US" sz="1800" spc="-8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crime.</a:t>
            </a:r>
            <a:r>
              <a:rPr lang="en-US" sz="1800" spc="-6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Machine Learning and Knowledge Discovery in Databases, 515-530.</a:t>
            </a:r>
            <a:endParaRPr lang="en-US" sz="1600" spc="0" dirty="0">
              <a:effectLst/>
              <a:latin typeface="Times New Roman" panose="02020603050405020304" pitchFamily="18" charset="0"/>
              <a:ea typeface="Times New Roman" panose="02020603050405020304" pitchFamily="18" charset="0"/>
            </a:endParaRPr>
          </a:p>
          <a:p>
            <a:pPr marL="342900" marR="96520" lvl="0" indent="-342900">
              <a:lnSpc>
                <a:spcPct val="150000"/>
              </a:lnSpc>
              <a:spcBef>
                <a:spcPts val="590"/>
              </a:spcBef>
              <a:buSzPts val="1200"/>
              <a:buFont typeface="Times New Roman" panose="02020603050405020304" pitchFamily="18" charset="0"/>
              <a:buAutoNum type="arabicPeriod"/>
              <a:tabLst>
                <a:tab pos="667385" algn="l"/>
              </a:tabLst>
            </a:pPr>
            <a:r>
              <a:rPr lang="en-US" sz="1800" spc="0" dirty="0">
                <a:effectLst/>
                <a:latin typeface="Times New Roman" panose="02020603050405020304" pitchFamily="18" charset="0"/>
                <a:ea typeface="Times New Roman" panose="02020603050405020304" pitchFamily="18" charset="0"/>
              </a:rPr>
              <a:t>Zaharia,</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M.,</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et</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al.</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(2016).</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Apache</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Spark:</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a</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unified</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engine for</a:t>
            </a:r>
            <a:r>
              <a:rPr lang="en-US" sz="1800" spc="-1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big</a:t>
            </a:r>
            <a:r>
              <a:rPr lang="en-US" sz="1800" spc="-1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data</a:t>
            </a:r>
            <a:r>
              <a:rPr lang="en-US" sz="1800" spc="-20"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processing.</a:t>
            </a:r>
            <a:r>
              <a:rPr lang="en-US" sz="1800" spc="-5" dirty="0">
                <a:effectLst/>
                <a:latin typeface="Times New Roman" panose="02020603050405020304" pitchFamily="18" charset="0"/>
                <a:ea typeface="Times New Roman" panose="02020603050405020304" pitchFamily="18" charset="0"/>
              </a:rPr>
              <a:t> </a:t>
            </a:r>
            <a:r>
              <a:rPr lang="en-US" sz="1800" spc="0" dirty="0">
                <a:effectLst/>
                <a:latin typeface="Times New Roman" panose="02020603050405020304" pitchFamily="18" charset="0"/>
                <a:ea typeface="Times New Roman" panose="02020603050405020304" pitchFamily="18" charset="0"/>
              </a:rPr>
              <a:t>Communications of the ACM, 59(11), 56-65.</a:t>
            </a:r>
            <a:endParaRPr lang="en-US" sz="16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7885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E0B3DE9D-EC77-624A-8992-1CA5F1F37593}"/>
              </a:ext>
            </a:extLst>
          </p:cNvPr>
          <p:cNvSpPr/>
          <p:nvPr/>
        </p:nvSpPr>
        <p:spPr>
          <a:xfrm>
            <a:off x="2658114" y="2213039"/>
            <a:ext cx="6875772" cy="2431921"/>
          </a:xfrm>
          <a:prstGeom prst="roundRect">
            <a:avLst/>
          </a:prstGeom>
          <a:gradFill>
            <a:gsLst>
              <a:gs pos="0">
                <a:srgbClr val="ED8783">
                  <a:lumMod val="85000"/>
                  <a:lumOff val="15000"/>
                </a:srgbClr>
              </a:gs>
              <a:gs pos="100000">
                <a:srgbClr val="097F8B">
                  <a:lumMod val="98000"/>
                  <a:lumOff val="2000"/>
                </a:srgb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Glacial Indifference" pitchFamily="2" charset="0"/>
            </a:endParaRPr>
          </a:p>
        </p:txBody>
      </p:sp>
      <p:sp>
        <p:nvSpPr>
          <p:cNvPr id="7" name="TextBox 4">
            <a:extLst>
              <a:ext uri="{FF2B5EF4-FFF2-40B4-BE49-F238E27FC236}">
                <a16:creationId xmlns:a16="http://schemas.microsoft.com/office/drawing/2014/main" id="{DD151E0D-5794-C54B-B8BF-C921204DF6B0}"/>
              </a:ext>
            </a:extLst>
          </p:cNvPr>
          <p:cNvSpPr txBox="1">
            <a:spLocks noChangeArrowheads="1"/>
          </p:cNvSpPr>
          <p:nvPr/>
        </p:nvSpPr>
        <p:spPr bwMode="auto">
          <a:xfrm>
            <a:off x="2658114" y="2898928"/>
            <a:ext cx="687577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ID" sz="7000" dirty="0">
                <a:solidFill>
                  <a:schemeClr val="bg1"/>
                </a:solidFill>
                <a:latin typeface="Glacial Indifference" pitchFamily="2" charset="0"/>
                <a:ea typeface="Open Sans SemiBold" pitchFamily="2" charset="0"/>
                <a:cs typeface="Poppins" pitchFamily="2" charset="77"/>
              </a:rPr>
              <a:t>Thank You</a:t>
            </a:r>
            <a:endParaRPr lang="en-ID" sz="7000" dirty="0">
              <a:solidFill>
                <a:schemeClr val="bg1"/>
              </a:solidFill>
              <a:effectLst/>
              <a:latin typeface="Glacial Indifference" pitchFamily="2" charset="0"/>
              <a:ea typeface="Open Sans SemiBold" pitchFamily="2" charset="0"/>
              <a:cs typeface="Poppins" pitchFamily="2" charset="77"/>
            </a:endParaRPr>
          </a:p>
        </p:txBody>
      </p:sp>
      <p:cxnSp>
        <p:nvCxnSpPr>
          <p:cNvPr id="10" name="Straight Connector 9">
            <a:extLst>
              <a:ext uri="{FF2B5EF4-FFF2-40B4-BE49-F238E27FC236}">
                <a16:creationId xmlns:a16="http://schemas.microsoft.com/office/drawing/2014/main" id="{83137A04-0961-CB4E-BB09-0282AD79F421}"/>
              </a:ext>
            </a:extLst>
          </p:cNvPr>
          <p:cNvCxnSpPr/>
          <p:nvPr/>
        </p:nvCxnSpPr>
        <p:spPr>
          <a:xfrm>
            <a:off x="515938" y="5106838"/>
            <a:ext cx="11160125"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94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TotalTime>
  <Words>994</Words>
  <Application>Microsoft Office PowerPoint</Application>
  <PresentationFormat>Widescreen</PresentationFormat>
  <Paragraphs>119</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Glacial Indifference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 Chaitanya Reddy</cp:lastModifiedBy>
  <cp:revision>69</cp:revision>
  <dcterms:created xsi:type="dcterms:W3CDTF">2023-09-12T06:51:55Z</dcterms:created>
  <dcterms:modified xsi:type="dcterms:W3CDTF">2025-12-01T05:30:47Z</dcterms:modified>
</cp:coreProperties>
</file>